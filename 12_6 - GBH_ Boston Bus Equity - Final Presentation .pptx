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embeddedFontLst>
    <p:embeddedFont>
      <p:font typeface="Roboto"/>
      <p:regular r:id="rId31"/>
      <p:bold r:id="rId32"/>
      <p:italic r:id="rId33"/>
      <p:boldItalic r:id="rId34"/>
    </p:embeddedFont>
    <p:embeddedFont>
      <p:font typeface="Montserrat"/>
      <p:regular r:id="rId35"/>
      <p:bold r:id="rId36"/>
      <p:italic r:id="rId37"/>
      <p:boldItalic r:id="rId38"/>
    </p:embeddedFont>
    <p:embeddedFont>
      <p:font typeface="Montserrat Medium"/>
      <p:regular r:id="rId39"/>
      <p:bold r:id="rId40"/>
      <p:italic r:id="rId41"/>
      <p:boldItalic r:id="rId42"/>
    </p:embeddedFont>
    <p:embeddedFont>
      <p:font typeface="Bebas Neue"/>
      <p:regular r:id="rId43"/>
    </p:embeddedFont>
    <p:embeddedFont>
      <p:font typeface="Gill Sans"/>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Medium-bold.fntdata"/><Relationship Id="rId20" Type="http://schemas.openxmlformats.org/officeDocument/2006/relationships/slide" Target="slides/slide16.xml"/><Relationship Id="rId42" Type="http://schemas.openxmlformats.org/officeDocument/2006/relationships/font" Target="fonts/MontserratMedium-boldItalic.fntdata"/><Relationship Id="rId41" Type="http://schemas.openxmlformats.org/officeDocument/2006/relationships/font" Target="fonts/MontserratMedium-italic.fntdata"/><Relationship Id="rId22" Type="http://schemas.openxmlformats.org/officeDocument/2006/relationships/slide" Target="slides/slide18.xml"/><Relationship Id="rId44" Type="http://schemas.openxmlformats.org/officeDocument/2006/relationships/font" Target="fonts/GillSans-regular.fntdata"/><Relationship Id="rId21" Type="http://schemas.openxmlformats.org/officeDocument/2006/relationships/slide" Target="slides/slide17.xml"/><Relationship Id="rId43" Type="http://schemas.openxmlformats.org/officeDocument/2006/relationships/font" Target="fonts/BebasNeue-regular.fntdata"/><Relationship Id="rId24" Type="http://schemas.openxmlformats.org/officeDocument/2006/relationships/slide" Target="slides/slide20.xml"/><Relationship Id="rId23" Type="http://schemas.openxmlformats.org/officeDocument/2006/relationships/slide" Target="slides/slide19.xml"/><Relationship Id="rId45" Type="http://schemas.openxmlformats.org/officeDocument/2006/relationships/font" Target="fonts/Gill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Roboto-italic.fntdata"/><Relationship Id="rId10" Type="http://schemas.openxmlformats.org/officeDocument/2006/relationships/slide" Target="slides/slide6.xml"/><Relationship Id="rId32" Type="http://schemas.openxmlformats.org/officeDocument/2006/relationships/font" Target="fonts/Roboto-bold.fntdata"/><Relationship Id="rId13" Type="http://schemas.openxmlformats.org/officeDocument/2006/relationships/slide" Target="slides/slide9.xml"/><Relationship Id="rId35" Type="http://schemas.openxmlformats.org/officeDocument/2006/relationships/font" Target="fonts/Montserrat-regular.fntdata"/><Relationship Id="rId12" Type="http://schemas.openxmlformats.org/officeDocument/2006/relationships/slide" Target="slides/slide8.xml"/><Relationship Id="rId34" Type="http://schemas.openxmlformats.org/officeDocument/2006/relationships/font" Target="fonts/Roboto-boldItalic.fntdata"/><Relationship Id="rId15" Type="http://schemas.openxmlformats.org/officeDocument/2006/relationships/slide" Target="slides/slide11.xml"/><Relationship Id="rId37" Type="http://schemas.openxmlformats.org/officeDocument/2006/relationships/font" Target="fonts/Montserrat-italic.fntdata"/><Relationship Id="rId14" Type="http://schemas.openxmlformats.org/officeDocument/2006/relationships/slide" Target="slides/slide10.xml"/><Relationship Id="rId36" Type="http://schemas.openxmlformats.org/officeDocument/2006/relationships/font" Target="fonts/Montserrat-bold.fntdata"/><Relationship Id="rId17" Type="http://schemas.openxmlformats.org/officeDocument/2006/relationships/slide" Target="slides/slide13.xml"/><Relationship Id="rId39" Type="http://schemas.openxmlformats.org/officeDocument/2006/relationships/font" Target="fonts/MontserratMedium-regular.fntdata"/><Relationship Id="rId16" Type="http://schemas.openxmlformats.org/officeDocument/2006/relationships/slide" Target="slides/slide12.xml"/><Relationship Id="rId38" Type="http://schemas.openxmlformats.org/officeDocument/2006/relationships/font" Target="fonts/Montserrat-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f8b685d5de_3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g1f8b685d5de_3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1c96b5f747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g31c96b5f747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1d5b535a4b_3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1" marL="914400" rtl="0" algn="l">
              <a:spcBef>
                <a:spcPts val="360"/>
              </a:spcBef>
              <a:spcAft>
                <a:spcPts val="0"/>
              </a:spcAft>
              <a:buClr>
                <a:schemeClr val="dk1"/>
              </a:buClr>
              <a:buSzPts val="1100"/>
              <a:buFont typeface="Avenir"/>
              <a:buChar char="-"/>
            </a:pPr>
            <a:r>
              <a:rPr lang="en-US" sz="1800">
                <a:solidFill>
                  <a:srgbClr val="3D3D3D"/>
                </a:solidFill>
                <a:latin typeface="Montserrat Medium"/>
                <a:ea typeface="Montserrat Medium"/>
                <a:cs typeface="Montserrat Medium"/>
                <a:sym typeface="Montserrat Medium"/>
              </a:rPr>
              <a:t>This project aims to deliver a detailed analysis of the Massachusetts Bay Transportation Authority (MBTA) bus performance between 2019 and 2022. The main focus is to compare the ridership and reliability data for each bus route between the years. This study will identify any areas where bus service could be improved to better meet community needs. By analyzing the performance for each route, this project can inform data-driven decision-making for policymakers and MBTA to enhance overall transit system performance to better serve Boston residents and communities.</a:t>
            </a:r>
            <a:endParaRPr sz="1100">
              <a:latin typeface="Avenir"/>
              <a:ea typeface="Avenir"/>
              <a:cs typeface="Avenir"/>
              <a:sym typeface="Avenir"/>
            </a:endParaRPr>
          </a:p>
        </p:txBody>
      </p:sp>
      <p:sp>
        <p:nvSpPr>
          <p:cNvPr id="135" name="Google Shape;135;g31d5b535a4b_3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d680dc0a62_5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d680dc0a62_5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2d680dc0a62_5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d680dc0a62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d680dc0a62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2d680dc0a62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d680dc0a62_3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d680dc0a62_3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Client Notes: Why would a bus depart 30min early like in row 3?</a:t>
            </a:r>
            <a:endParaRPr/>
          </a:p>
        </p:txBody>
      </p:sp>
      <p:sp>
        <p:nvSpPr>
          <p:cNvPr id="194" name="Google Shape;194;g2d680dc0a62_3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d680dc0a62_6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d680dc0a62_6_1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Client Notes: Find out a better explanation of the boardings and alightings. Perhaps it’s a flaw in the data. Even if it had no missing values, the could be represented differently, like labeled at 0.0.</a:t>
            </a:r>
            <a:endParaRPr/>
          </a:p>
        </p:txBody>
      </p:sp>
      <p:sp>
        <p:nvSpPr>
          <p:cNvPr id="205" name="Google Shape;205;g2d680dc0a62_6_1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13f028c8c3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13f028c8c3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13f028c8c3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147ad071d9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147ad071d9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147ad071d9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150f5047fa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150f5047fa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150f5047fa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150f5047fa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150f5047fa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150f5047fa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147ad071d9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147ad071d9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3147ad071d9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13f028c8c3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13f028c8c3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13f028c8c3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13f028c8c3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13f028c8c3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313f028c8c3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13f028c8c3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13f028c8c3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313f028c8c3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14af1285af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14af1285af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14af1285af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14af1285af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14af1285af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314af1285af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1c96b5f747_0_19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1c96b5f747_0_19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g31c96b5f747_0_19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13f028c8c3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13f028c8c3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g313f028c8c3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13f028c8c3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13f028c8c3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457200" rtl="0" algn="l">
              <a:spcBef>
                <a:spcPts val="0"/>
              </a:spcBef>
              <a:spcAft>
                <a:spcPts val="0"/>
              </a:spcAft>
              <a:buNone/>
            </a:pPr>
            <a:r>
              <a:t/>
            </a:r>
            <a:endParaRPr/>
          </a:p>
        </p:txBody>
      </p:sp>
      <p:sp>
        <p:nvSpPr>
          <p:cNvPr id="364" name="Google Shape;364;g313f028c8c3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15fe1af03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15fe1af03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t/>
            </a:r>
            <a:endParaRPr/>
          </a:p>
        </p:txBody>
      </p:sp>
      <p:sp>
        <p:nvSpPr>
          <p:cNvPr id="373" name="Google Shape;373;g315fe1af03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151fea8869_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151fea8869_9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g3151fea8869_9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13f028c8c3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13f028c8c3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g313f028c8c3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d680dc0a62_5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d680dc0a62_5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g2d680dc0a62_5_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0b47f7df6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0b47f7df6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 the report – map out the routes</a:t>
            </a:r>
            <a:endParaRPr/>
          </a:p>
        </p:txBody>
      </p:sp>
      <p:sp>
        <p:nvSpPr>
          <p:cNvPr id="412" name="Google Shape;412;g30b47f7df6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7aed6778fa_0_10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g27aed6778fa_0_10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Montserrat Medium"/>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22" name="Google Shape;22;p2"/>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3"/>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29" name="Google Shape;29;p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4"/>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 name="Shape 38"/>
        <p:cNvGrpSpPr/>
        <p:nvPr/>
      </p:nvGrpSpPr>
      <p:grpSpPr>
        <a:xfrm>
          <a:off x="0" y="0"/>
          <a:ext cx="0" cy="0"/>
          <a:chOff x="0" y="0"/>
          <a:chExt cx="0" cy="0"/>
        </a:xfrm>
      </p:grpSpPr>
      <p:sp>
        <p:nvSpPr>
          <p:cNvPr id="39" name="Google Shape;39;p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6"/>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Montserrat Medium"/>
              <a:buNone/>
              <a:defRPr b="0" sz="360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656"/>
              <a:buNone/>
              <a:defRPr sz="1800" cap="none">
                <a:solidFill>
                  <a:schemeClr val="accent2"/>
                </a:solidFill>
              </a:defRPr>
            </a:lvl1pPr>
            <a:lvl2pPr indent="-228600" lvl="1" marL="914400" algn="l">
              <a:lnSpc>
                <a:spcPct val="100000"/>
              </a:lnSpc>
              <a:spcBef>
                <a:spcPts val="600"/>
              </a:spcBef>
              <a:spcAft>
                <a:spcPts val="0"/>
              </a:spcAft>
              <a:buSzPts val="1656"/>
              <a:buNone/>
              <a:defRPr sz="1800">
                <a:solidFill>
                  <a:srgbClr val="888888"/>
                </a:solidFill>
              </a:defRPr>
            </a:lvl2pPr>
            <a:lvl3pPr indent="-228600" lvl="2" marL="1371600" algn="l">
              <a:lnSpc>
                <a:spcPct val="100000"/>
              </a:lnSpc>
              <a:spcBef>
                <a:spcPts val="600"/>
              </a:spcBef>
              <a:spcAft>
                <a:spcPts val="0"/>
              </a:spcAft>
              <a:buSzPts val="1472"/>
              <a:buNone/>
              <a:defRPr sz="1600">
                <a:solidFill>
                  <a:srgbClr val="888888"/>
                </a:solidFill>
              </a:defRPr>
            </a:lvl3pPr>
            <a:lvl4pPr indent="-228600" lvl="3" marL="1828800" algn="l">
              <a:lnSpc>
                <a:spcPct val="100000"/>
              </a:lnSpc>
              <a:spcBef>
                <a:spcPts val="600"/>
              </a:spcBef>
              <a:spcAft>
                <a:spcPts val="0"/>
              </a:spcAft>
              <a:buSzPts val="1288"/>
              <a:buNone/>
              <a:defRPr sz="1400">
                <a:solidFill>
                  <a:srgbClr val="888888"/>
                </a:solidFill>
              </a:defRPr>
            </a:lvl4pPr>
            <a:lvl5pPr indent="-228600" lvl="4" marL="2286000" algn="l">
              <a:lnSpc>
                <a:spcPct val="100000"/>
              </a:lnSpc>
              <a:spcBef>
                <a:spcPts val="600"/>
              </a:spcBef>
              <a:spcAft>
                <a:spcPts val="0"/>
              </a:spcAft>
              <a:buSzPts val="1288"/>
              <a:buNone/>
              <a:defRPr sz="1400">
                <a:solidFill>
                  <a:srgbClr val="888888"/>
                </a:solidFill>
              </a:defRPr>
            </a:lvl5pPr>
            <a:lvl6pPr indent="-228600" lvl="5" marL="2743200" algn="l">
              <a:lnSpc>
                <a:spcPct val="100000"/>
              </a:lnSpc>
              <a:spcBef>
                <a:spcPts val="600"/>
              </a:spcBef>
              <a:spcAft>
                <a:spcPts val="0"/>
              </a:spcAft>
              <a:buSzPts val="1288"/>
              <a:buNone/>
              <a:defRPr sz="1400">
                <a:solidFill>
                  <a:srgbClr val="888888"/>
                </a:solidFill>
              </a:defRPr>
            </a:lvl6pPr>
            <a:lvl7pPr indent="-228600" lvl="6" marL="3200400" algn="l">
              <a:lnSpc>
                <a:spcPct val="100000"/>
              </a:lnSpc>
              <a:spcBef>
                <a:spcPts val="600"/>
              </a:spcBef>
              <a:spcAft>
                <a:spcPts val="0"/>
              </a:spcAft>
              <a:buSzPts val="1288"/>
              <a:buNone/>
              <a:defRPr sz="1400">
                <a:solidFill>
                  <a:srgbClr val="888888"/>
                </a:solidFill>
              </a:defRPr>
            </a:lvl7pPr>
            <a:lvl8pPr indent="-228600" lvl="7" marL="3657600" algn="l">
              <a:lnSpc>
                <a:spcPct val="100000"/>
              </a:lnSpc>
              <a:spcBef>
                <a:spcPts val="600"/>
              </a:spcBef>
              <a:spcAft>
                <a:spcPts val="0"/>
              </a:spcAft>
              <a:buSzPts val="1288"/>
              <a:buNone/>
              <a:defRPr sz="1400">
                <a:solidFill>
                  <a:srgbClr val="888888"/>
                </a:solidFill>
              </a:defRPr>
            </a:lvl8pPr>
            <a:lvl9pPr indent="-228600" lvl="8" marL="4114800" algn="l">
              <a:lnSpc>
                <a:spcPct val="100000"/>
              </a:lnSpc>
              <a:spcBef>
                <a:spcPts val="600"/>
              </a:spcBef>
              <a:spcAft>
                <a:spcPts val="600"/>
              </a:spcAft>
              <a:buSzPts val="1288"/>
              <a:buNone/>
              <a:defRPr sz="1400">
                <a:solidFill>
                  <a:srgbClr val="888888"/>
                </a:solidFill>
              </a:defRPr>
            </a:lvl9pPr>
          </a:lstStyle>
          <a:p/>
        </p:txBody>
      </p:sp>
      <p:sp>
        <p:nvSpPr>
          <p:cNvPr id="46" name="Google Shape;46;p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7"/>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3" name="Google Shape;53;p7"/>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4" name="Google Shape;54;p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sp>
        <p:nvSpPr>
          <p:cNvPr id="58" name="Google Shape;58;p8"/>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8"/>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61" name="Google Shape;61;p8"/>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62" name="Google Shape;62;p8"/>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63" name="Google Shape;63;p8"/>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64" name="Google Shape;64;p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9"/>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9"/>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F3F3F"/>
              </a:buClr>
              <a:buSzPts val="2000"/>
              <a:buFont typeface="Montserrat Medium"/>
              <a:buNone/>
              <a:defRPr b="0" sz="20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lnSpc>
                <a:spcPct val="100000"/>
              </a:lnSpc>
              <a:spcBef>
                <a:spcPts val="400"/>
              </a:spcBef>
              <a:spcAft>
                <a:spcPts val="0"/>
              </a:spcAft>
              <a:buSzPts val="1840"/>
              <a:buChar char="◼"/>
              <a:defRPr sz="2000">
                <a:solidFill>
                  <a:schemeClr val="dk2"/>
                </a:solidFill>
              </a:defRPr>
            </a:lvl1pPr>
            <a:lvl2pPr indent="-333756" lvl="1" marL="914400" algn="l">
              <a:lnSpc>
                <a:spcPct val="100000"/>
              </a:lnSpc>
              <a:spcBef>
                <a:spcPts val="600"/>
              </a:spcBef>
              <a:spcAft>
                <a:spcPts val="0"/>
              </a:spcAft>
              <a:buSzPts val="1656"/>
              <a:buChar char="◼"/>
              <a:defRPr sz="1800">
                <a:solidFill>
                  <a:schemeClr val="dk2"/>
                </a:solidFill>
              </a:defRPr>
            </a:lvl2pPr>
            <a:lvl3pPr indent="-322072" lvl="2" marL="1371600" algn="l">
              <a:lnSpc>
                <a:spcPct val="100000"/>
              </a:lnSpc>
              <a:spcBef>
                <a:spcPts val="600"/>
              </a:spcBef>
              <a:spcAft>
                <a:spcPts val="0"/>
              </a:spcAft>
              <a:buSzPts val="1472"/>
              <a:buChar char="◼"/>
              <a:defRPr sz="1600">
                <a:solidFill>
                  <a:schemeClr val="dk2"/>
                </a:solidFill>
              </a:defRPr>
            </a:lvl3pPr>
            <a:lvl4pPr indent="-310388" lvl="3" marL="1828800" algn="l">
              <a:lnSpc>
                <a:spcPct val="100000"/>
              </a:lnSpc>
              <a:spcBef>
                <a:spcPts val="600"/>
              </a:spcBef>
              <a:spcAft>
                <a:spcPts val="0"/>
              </a:spcAft>
              <a:buSzPts val="1288"/>
              <a:buChar char="◼"/>
              <a:defRPr sz="1400">
                <a:solidFill>
                  <a:schemeClr val="dk2"/>
                </a:solidFill>
              </a:defRPr>
            </a:lvl4pPr>
            <a:lvl5pPr indent="-310388" lvl="4" marL="2286000" algn="l">
              <a:lnSpc>
                <a:spcPct val="100000"/>
              </a:lnSpc>
              <a:spcBef>
                <a:spcPts val="600"/>
              </a:spcBef>
              <a:spcAft>
                <a:spcPts val="0"/>
              </a:spcAft>
              <a:buSzPts val="1288"/>
              <a:buChar char="◼"/>
              <a:defRPr sz="1400">
                <a:solidFill>
                  <a:schemeClr val="dk2"/>
                </a:solidFill>
              </a:defRPr>
            </a:lvl5pPr>
            <a:lvl6pPr indent="-310388" lvl="5" marL="2743200" algn="l">
              <a:lnSpc>
                <a:spcPct val="100000"/>
              </a:lnSpc>
              <a:spcBef>
                <a:spcPts val="600"/>
              </a:spcBef>
              <a:spcAft>
                <a:spcPts val="0"/>
              </a:spcAft>
              <a:buSzPts val="1288"/>
              <a:buChar char="◼"/>
              <a:defRPr sz="1400">
                <a:solidFill>
                  <a:schemeClr val="dk2"/>
                </a:solidFill>
              </a:defRPr>
            </a:lvl6pPr>
            <a:lvl7pPr indent="-310388" lvl="6" marL="3200400" algn="l">
              <a:lnSpc>
                <a:spcPct val="100000"/>
              </a:lnSpc>
              <a:spcBef>
                <a:spcPts val="600"/>
              </a:spcBef>
              <a:spcAft>
                <a:spcPts val="0"/>
              </a:spcAft>
              <a:buSzPts val="1288"/>
              <a:buChar char="◼"/>
              <a:defRPr sz="1400">
                <a:solidFill>
                  <a:schemeClr val="dk2"/>
                </a:solidFill>
              </a:defRPr>
            </a:lvl7pPr>
            <a:lvl8pPr indent="-310388" lvl="7" marL="3657600" algn="l">
              <a:lnSpc>
                <a:spcPct val="100000"/>
              </a:lnSpc>
              <a:spcBef>
                <a:spcPts val="600"/>
              </a:spcBef>
              <a:spcAft>
                <a:spcPts val="0"/>
              </a:spcAft>
              <a:buSzPts val="1288"/>
              <a:buChar char="◼"/>
              <a:defRPr sz="1400">
                <a:solidFill>
                  <a:schemeClr val="dk2"/>
                </a:solidFill>
              </a:defRPr>
            </a:lvl8pPr>
            <a:lvl9pPr indent="-310388" lvl="8" marL="4114800" algn="l">
              <a:lnSpc>
                <a:spcPct val="100000"/>
              </a:lnSpc>
              <a:spcBef>
                <a:spcPts val="600"/>
              </a:spcBef>
              <a:spcAft>
                <a:spcPts val="600"/>
              </a:spcAft>
              <a:buSzPts val="1288"/>
              <a:buChar char="◼"/>
              <a:defRPr sz="1400">
                <a:solidFill>
                  <a:schemeClr val="dk2"/>
                </a:solidFill>
              </a:defRPr>
            </a:lvl9pPr>
          </a:lstStyle>
          <a:p/>
        </p:txBody>
      </p:sp>
      <p:sp>
        <p:nvSpPr>
          <p:cNvPr id="71" name="Google Shape;71;p9"/>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220"/>
              </a:spcBef>
              <a:spcAft>
                <a:spcPts val="0"/>
              </a:spcAft>
              <a:buSzPts val="1012"/>
              <a:buNone/>
              <a:defRPr sz="1100">
                <a:solidFill>
                  <a:schemeClr val="lt1"/>
                </a:solidFill>
              </a:defRPr>
            </a:lvl1pPr>
            <a:lvl2pPr indent="-228600" lvl="1" marL="914400" algn="l">
              <a:lnSpc>
                <a:spcPct val="100000"/>
              </a:lnSpc>
              <a:spcBef>
                <a:spcPts val="600"/>
              </a:spcBef>
              <a:spcAft>
                <a:spcPts val="0"/>
              </a:spcAft>
              <a:buSzPts val="1012"/>
              <a:buNone/>
              <a:defRPr sz="11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72" name="Google Shape;72;p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400"/>
              <a:buFont typeface="Montserrat Medium"/>
              <a:buNone/>
              <a:defRPr b="0" sz="2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p:nvPr>
            <p:ph idx="2" type="pic"/>
          </p:nvPr>
        </p:nvSpPr>
        <p:spPr>
          <a:xfrm>
            <a:off x="447817" y="599725"/>
            <a:ext cx="11290859" cy="3557252"/>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320"/>
              </a:spcBef>
              <a:spcAft>
                <a:spcPts val="0"/>
              </a:spcAft>
              <a:buClr>
                <a:schemeClr val="accent2"/>
              </a:buClr>
              <a:buSzPts val="1472"/>
              <a:buFont typeface="Noto Sans Symbols"/>
              <a:buNone/>
              <a:defRPr b="0" i="0" sz="1600" u="none" cap="none" strike="noStrike">
                <a:solidFill>
                  <a:schemeClr val="dk2"/>
                </a:solidFill>
                <a:latin typeface="Montserrat Medium"/>
                <a:ea typeface="Montserrat Medium"/>
                <a:cs typeface="Montserrat Medium"/>
                <a:sym typeface="Montserrat Medium"/>
              </a:defRPr>
            </a:lvl1pPr>
            <a:lvl2pPr lvl="1" marR="0" rtl="0" algn="l">
              <a:lnSpc>
                <a:spcPct val="100000"/>
              </a:lnSpc>
              <a:spcBef>
                <a:spcPts val="600"/>
              </a:spcBef>
              <a:spcAft>
                <a:spcPts val="0"/>
              </a:spcAft>
              <a:buClr>
                <a:schemeClr val="accent2"/>
              </a:buClr>
              <a:buSzPts val="1472"/>
              <a:buFont typeface="Noto Sans Symbols"/>
              <a:buNone/>
              <a:defRPr b="0" i="0" sz="1600" u="none" cap="none" strike="noStrike">
                <a:solidFill>
                  <a:schemeClr val="dk2"/>
                </a:solidFill>
                <a:latin typeface="Montserrat Medium"/>
                <a:ea typeface="Montserrat Medium"/>
                <a:cs typeface="Montserrat Medium"/>
                <a:sym typeface="Montserrat Medium"/>
              </a:defRPr>
            </a:lvl2pPr>
            <a:lvl3pPr lvl="2" marR="0" rtl="0" algn="l">
              <a:lnSpc>
                <a:spcPct val="100000"/>
              </a:lnSpc>
              <a:spcBef>
                <a:spcPts val="600"/>
              </a:spcBef>
              <a:spcAft>
                <a:spcPts val="0"/>
              </a:spcAft>
              <a:buClr>
                <a:schemeClr val="accent2"/>
              </a:buClr>
              <a:buSzPts val="1472"/>
              <a:buFont typeface="Noto Sans Symbols"/>
              <a:buNone/>
              <a:defRPr b="0" i="0" sz="1600" u="none" cap="none" strike="noStrike">
                <a:solidFill>
                  <a:schemeClr val="dk2"/>
                </a:solidFill>
                <a:latin typeface="Montserrat Medium"/>
                <a:ea typeface="Montserrat Medium"/>
                <a:cs typeface="Montserrat Medium"/>
                <a:sym typeface="Montserrat Medium"/>
              </a:defRPr>
            </a:lvl3pPr>
            <a:lvl4pPr lvl="3" marR="0" rtl="0" algn="l">
              <a:lnSpc>
                <a:spcPct val="100000"/>
              </a:lnSpc>
              <a:spcBef>
                <a:spcPts val="600"/>
              </a:spcBef>
              <a:spcAft>
                <a:spcPts val="0"/>
              </a:spcAft>
              <a:buClr>
                <a:schemeClr val="accent2"/>
              </a:buClr>
              <a:buSzPts val="1472"/>
              <a:buFont typeface="Noto Sans Symbols"/>
              <a:buNone/>
              <a:defRPr b="0" i="0" sz="1600" u="none" cap="none" strike="noStrike">
                <a:solidFill>
                  <a:schemeClr val="dk2"/>
                </a:solidFill>
                <a:latin typeface="Montserrat Medium"/>
                <a:ea typeface="Montserrat Medium"/>
                <a:cs typeface="Montserrat Medium"/>
                <a:sym typeface="Montserrat Medium"/>
              </a:defRPr>
            </a:lvl4pPr>
            <a:lvl5pPr lvl="4" marR="0" rtl="0" algn="l">
              <a:lnSpc>
                <a:spcPct val="100000"/>
              </a:lnSpc>
              <a:spcBef>
                <a:spcPts val="600"/>
              </a:spcBef>
              <a:spcAft>
                <a:spcPts val="0"/>
              </a:spcAft>
              <a:buClr>
                <a:schemeClr val="accent2"/>
              </a:buClr>
              <a:buSzPts val="1472"/>
              <a:buFont typeface="Noto Sans Symbols"/>
              <a:buNone/>
              <a:defRPr b="0" i="0" sz="1600" u="none" cap="none" strike="noStrike">
                <a:solidFill>
                  <a:schemeClr val="dk2"/>
                </a:solidFill>
                <a:latin typeface="Montserrat Medium"/>
                <a:ea typeface="Montserrat Medium"/>
                <a:cs typeface="Montserrat Medium"/>
                <a:sym typeface="Montserrat Medium"/>
              </a:defRPr>
            </a:lvl5pPr>
            <a:lvl6pPr lvl="5" marR="0" rtl="0" algn="l">
              <a:lnSpc>
                <a:spcPct val="100000"/>
              </a:lnSpc>
              <a:spcBef>
                <a:spcPts val="600"/>
              </a:spcBef>
              <a:spcAft>
                <a:spcPts val="0"/>
              </a:spcAft>
              <a:buClr>
                <a:schemeClr val="accent2"/>
              </a:buClr>
              <a:buSzPts val="1472"/>
              <a:buFont typeface="Noto Sans Symbols"/>
              <a:buNone/>
              <a:defRPr b="0" i="0" sz="1600" u="none" cap="none" strike="noStrike">
                <a:solidFill>
                  <a:schemeClr val="dk2"/>
                </a:solidFill>
                <a:latin typeface="Gill Sans"/>
                <a:ea typeface="Gill Sans"/>
                <a:cs typeface="Gill Sans"/>
                <a:sym typeface="Gill Sans"/>
              </a:defRPr>
            </a:lvl6pPr>
            <a:lvl7pPr lvl="6" marR="0" rtl="0" algn="l">
              <a:lnSpc>
                <a:spcPct val="100000"/>
              </a:lnSpc>
              <a:spcBef>
                <a:spcPts val="600"/>
              </a:spcBef>
              <a:spcAft>
                <a:spcPts val="0"/>
              </a:spcAft>
              <a:buClr>
                <a:schemeClr val="accent2"/>
              </a:buClr>
              <a:buSzPts val="1472"/>
              <a:buFont typeface="Noto Sans Symbols"/>
              <a:buNone/>
              <a:defRPr b="0" i="0" sz="1600" u="none" cap="none" strike="noStrike">
                <a:solidFill>
                  <a:schemeClr val="dk2"/>
                </a:solidFill>
                <a:latin typeface="Gill Sans"/>
                <a:ea typeface="Gill Sans"/>
                <a:cs typeface="Gill Sans"/>
                <a:sym typeface="Gill Sans"/>
              </a:defRPr>
            </a:lvl7pPr>
            <a:lvl8pPr lvl="7" marR="0" rtl="0" algn="l">
              <a:lnSpc>
                <a:spcPct val="100000"/>
              </a:lnSpc>
              <a:spcBef>
                <a:spcPts val="600"/>
              </a:spcBef>
              <a:spcAft>
                <a:spcPts val="0"/>
              </a:spcAft>
              <a:buClr>
                <a:schemeClr val="accent2"/>
              </a:buClr>
              <a:buSzPts val="1472"/>
              <a:buFont typeface="Noto Sans Symbols"/>
              <a:buNone/>
              <a:defRPr b="0" i="0" sz="1600" u="none" cap="none" strike="noStrike">
                <a:solidFill>
                  <a:schemeClr val="dk2"/>
                </a:solidFill>
                <a:latin typeface="Gill Sans"/>
                <a:ea typeface="Gill Sans"/>
                <a:cs typeface="Gill Sans"/>
                <a:sym typeface="Gill Sans"/>
              </a:defRPr>
            </a:lvl8pPr>
            <a:lvl9pPr lvl="8" marR="0" rtl="0" algn="l">
              <a:lnSpc>
                <a:spcPct val="100000"/>
              </a:lnSpc>
              <a:spcBef>
                <a:spcPts val="600"/>
              </a:spcBef>
              <a:spcAft>
                <a:spcPts val="600"/>
              </a:spcAft>
              <a:buClr>
                <a:schemeClr val="accent2"/>
              </a:buClr>
              <a:buSzPts val="1472"/>
              <a:buFont typeface="Noto Sans Symbols"/>
              <a:buNone/>
              <a:defRPr b="0" i="0" sz="1600" u="none" cap="none" strike="noStrike">
                <a:solidFill>
                  <a:schemeClr val="dk2"/>
                </a:solidFill>
                <a:latin typeface="Gill Sans"/>
                <a:ea typeface="Gill Sans"/>
                <a:cs typeface="Gill Sans"/>
                <a:sym typeface="Gill Sans"/>
              </a:defRPr>
            </a:lvl9pPr>
          </a:lstStyle>
          <a:p/>
        </p:txBody>
      </p:sp>
      <p:sp>
        <p:nvSpPr>
          <p:cNvPr id="78" name="Google Shape;78;p10"/>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240"/>
              </a:spcBef>
              <a:spcAft>
                <a:spcPts val="0"/>
              </a:spcAft>
              <a:buSzPts val="1104"/>
              <a:buNone/>
              <a:defRPr sz="1200"/>
            </a:lvl1pPr>
            <a:lvl2pPr indent="-228600" lvl="1" marL="914400" algn="l">
              <a:lnSpc>
                <a:spcPct val="100000"/>
              </a:lnSpc>
              <a:spcBef>
                <a:spcPts val="600"/>
              </a:spcBef>
              <a:spcAft>
                <a:spcPts val="0"/>
              </a:spcAft>
              <a:buSzPts val="1104"/>
              <a:buNone/>
              <a:defRPr sz="12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79" name="Google Shape;79;p1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11"/>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22072" lvl="1" marL="914400" algn="l">
              <a:lnSpc>
                <a:spcPct val="100000"/>
              </a:lnSpc>
              <a:spcBef>
                <a:spcPts val="600"/>
              </a:spcBef>
              <a:spcAft>
                <a:spcPts val="0"/>
              </a:spcAft>
              <a:buSzPts val="1472"/>
              <a:buChar char="◼"/>
              <a:defRPr/>
            </a:lvl2pPr>
            <a:lvl3pPr indent="-310388" lvl="2" marL="1371600" algn="l">
              <a:lnSpc>
                <a:spcPct val="100000"/>
              </a:lnSpc>
              <a:spcBef>
                <a:spcPts val="600"/>
              </a:spcBef>
              <a:spcAft>
                <a:spcPts val="0"/>
              </a:spcAft>
              <a:buSzPts val="1288"/>
              <a:buChar char="◼"/>
              <a:defRPr/>
            </a:lvl3pPr>
            <a:lvl4pPr indent="-298703" lvl="3" marL="1828800" algn="l">
              <a:lnSpc>
                <a:spcPct val="100000"/>
              </a:lnSpc>
              <a:spcBef>
                <a:spcPts val="600"/>
              </a:spcBef>
              <a:spcAft>
                <a:spcPts val="0"/>
              </a:spcAft>
              <a:buSzPts val="1104"/>
              <a:buChar char="◼"/>
              <a:defRPr/>
            </a:lvl4pPr>
            <a:lvl5pPr indent="-298704" lvl="4" marL="2286000" algn="l">
              <a:lnSpc>
                <a:spcPct val="100000"/>
              </a:lnSpc>
              <a:spcBef>
                <a:spcPts val="600"/>
              </a:spcBef>
              <a:spcAft>
                <a:spcPts val="0"/>
              </a:spcAft>
              <a:buSzPts val="1104"/>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6" name="Google Shape;86;p1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12"/>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2"/>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93" name="Google Shape;93;p12"/>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2"/>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2"/>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3F3F3F"/>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96" name="Shape 96"/>
        <p:cNvGrpSpPr/>
        <p:nvPr/>
      </p:nvGrpSpPr>
      <p:grpSpPr>
        <a:xfrm>
          <a:off x="0" y="0"/>
          <a:ext cx="0" cy="0"/>
          <a:chOff x="0" y="0"/>
          <a:chExt cx="0" cy="0"/>
        </a:xfrm>
      </p:grpSpPr>
      <p:grpSp>
        <p:nvGrpSpPr>
          <p:cNvPr id="97" name="Google Shape;97;p13"/>
          <p:cNvGrpSpPr/>
          <p:nvPr/>
        </p:nvGrpSpPr>
        <p:grpSpPr>
          <a:xfrm>
            <a:off x="1107036" y="5558926"/>
            <a:ext cx="994316" cy="61102"/>
            <a:chOff x="4580561" y="2589004"/>
            <a:chExt cx="1064464" cy="25200"/>
          </a:xfrm>
        </p:grpSpPr>
        <p:sp>
          <p:nvSpPr>
            <p:cNvPr id="98" name="Google Shape;98;p13"/>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 name="Google Shape;99;p13"/>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0" name="Google Shape;100;p13"/>
          <p:cNvSpPr txBox="1"/>
          <p:nvPr>
            <p:ph type="title"/>
          </p:nvPr>
        </p:nvSpPr>
        <p:spPr>
          <a:xfrm>
            <a:off x="972600" y="1152400"/>
            <a:ext cx="9361500" cy="3980100"/>
          </a:xfrm>
          <a:prstGeom prst="rect">
            <a:avLst/>
          </a:prstGeom>
        </p:spPr>
        <p:txBody>
          <a:bodyPr anchorCtr="0" anchor="ctr" bIns="45700" lIns="91425" spcFirstLastPara="1" rIns="91425" wrap="square" tIns="457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01" name="Google Shape;101;p13"/>
          <p:cNvSpPr txBox="1"/>
          <p:nvPr>
            <p:ph idx="12" type="sldNum"/>
          </p:nvPr>
        </p:nvSpPr>
        <p:spPr>
          <a:xfrm>
            <a:off x="11381736" y="6333134"/>
            <a:ext cx="731700" cy="524700"/>
          </a:xfrm>
          <a:prstGeom prst="rect">
            <a:avLst/>
          </a:prstGeom>
        </p:spPr>
        <p:txBody>
          <a:bodyPr anchorCtr="0" anchor="ctr" bIns="45700" lIns="91425" spcFirstLastPara="1" rIns="91425" wrap="square" tIns="457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2" name="Shape 102"/>
        <p:cNvGrpSpPr/>
        <p:nvPr/>
      </p:nvGrpSpPr>
      <p:grpSpPr>
        <a:xfrm>
          <a:off x="0" y="0"/>
          <a:ext cx="0" cy="0"/>
          <a:chOff x="0" y="0"/>
          <a:chExt cx="0" cy="0"/>
        </a:xfrm>
      </p:grpSpPr>
      <p:sp>
        <p:nvSpPr>
          <p:cNvPr id="103" name="Google Shape;103;p14"/>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04" name="Google Shape;104;p14"/>
          <p:cNvGrpSpPr/>
          <p:nvPr/>
        </p:nvGrpSpPr>
        <p:grpSpPr>
          <a:xfrm>
            <a:off x="1107036" y="1588427"/>
            <a:ext cx="994316" cy="61102"/>
            <a:chOff x="4580561" y="2589004"/>
            <a:chExt cx="1064464" cy="25200"/>
          </a:xfrm>
        </p:grpSpPr>
        <p:sp>
          <p:nvSpPr>
            <p:cNvPr id="105" name="Google Shape;105;p14"/>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 name="Google Shape;106;p14"/>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7" name="Google Shape;107;p14"/>
          <p:cNvSpPr txBox="1"/>
          <p:nvPr>
            <p:ph type="title"/>
          </p:nvPr>
        </p:nvSpPr>
        <p:spPr>
          <a:xfrm>
            <a:off x="972600" y="1758200"/>
            <a:ext cx="10251600" cy="713700"/>
          </a:xfrm>
          <a:prstGeom prst="rect">
            <a:avLst/>
          </a:prstGeom>
        </p:spPr>
        <p:txBody>
          <a:bodyPr anchorCtr="0" anchor="b" bIns="45700" lIns="91425" spcFirstLastPara="1" rIns="91425" wrap="square" tIns="4570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108" name="Google Shape;108;p14"/>
          <p:cNvSpPr txBox="1"/>
          <p:nvPr>
            <p:ph idx="1" type="body"/>
          </p:nvPr>
        </p:nvSpPr>
        <p:spPr>
          <a:xfrm>
            <a:off x="972600" y="2771833"/>
            <a:ext cx="10251600" cy="3014700"/>
          </a:xfrm>
          <a:prstGeom prst="rect">
            <a:avLst/>
          </a:prstGeom>
        </p:spPr>
        <p:txBody>
          <a:bodyPr anchorCtr="0" anchor="ctr" bIns="45700" lIns="91425" spcFirstLastPara="1" rIns="91425" wrap="square" tIns="45700">
            <a:normAutofit/>
          </a:bodyPr>
          <a:lstStyle>
            <a:lvl1pPr indent="-333756" lvl="0" marL="457200">
              <a:spcBef>
                <a:spcPts val="360"/>
              </a:spcBef>
              <a:spcAft>
                <a:spcPts val="0"/>
              </a:spcAft>
              <a:buSzPts val="1656"/>
              <a:buChar char="◼"/>
              <a:defRPr/>
            </a:lvl1pPr>
            <a:lvl2pPr indent="-322072" lvl="1" marL="914400">
              <a:spcBef>
                <a:spcPts val="600"/>
              </a:spcBef>
              <a:spcAft>
                <a:spcPts val="0"/>
              </a:spcAft>
              <a:buSzPts val="1472"/>
              <a:buChar char="◼"/>
              <a:defRPr/>
            </a:lvl2pPr>
            <a:lvl3pPr indent="-310388" lvl="2" marL="1371600">
              <a:spcBef>
                <a:spcPts val="600"/>
              </a:spcBef>
              <a:spcAft>
                <a:spcPts val="0"/>
              </a:spcAft>
              <a:buSzPts val="1288"/>
              <a:buChar char="◼"/>
              <a:defRPr/>
            </a:lvl3pPr>
            <a:lvl4pPr indent="-298703" lvl="3" marL="1828800">
              <a:spcBef>
                <a:spcPts val="600"/>
              </a:spcBef>
              <a:spcAft>
                <a:spcPts val="0"/>
              </a:spcAft>
              <a:buSzPts val="1104"/>
              <a:buChar char="◼"/>
              <a:defRPr/>
            </a:lvl4pPr>
            <a:lvl5pPr indent="-298704" lvl="4" marL="2286000">
              <a:spcBef>
                <a:spcPts val="600"/>
              </a:spcBef>
              <a:spcAft>
                <a:spcPts val="0"/>
              </a:spcAft>
              <a:buSzPts val="1104"/>
              <a:buChar char="◼"/>
              <a:defRPr/>
            </a:lvl5pPr>
            <a:lvl6pPr indent="-298704" lvl="5" marL="2743200">
              <a:spcBef>
                <a:spcPts val="600"/>
              </a:spcBef>
              <a:spcAft>
                <a:spcPts val="0"/>
              </a:spcAft>
              <a:buSzPts val="1104"/>
              <a:buChar char="◼"/>
              <a:defRPr/>
            </a:lvl6pPr>
            <a:lvl7pPr indent="-298704" lvl="6" marL="3200400">
              <a:spcBef>
                <a:spcPts val="600"/>
              </a:spcBef>
              <a:spcAft>
                <a:spcPts val="0"/>
              </a:spcAft>
              <a:buSzPts val="1104"/>
              <a:buChar char="◼"/>
              <a:defRPr/>
            </a:lvl7pPr>
            <a:lvl8pPr indent="-298703" lvl="7" marL="3657600">
              <a:spcBef>
                <a:spcPts val="600"/>
              </a:spcBef>
              <a:spcAft>
                <a:spcPts val="0"/>
              </a:spcAft>
              <a:buSzPts val="1104"/>
              <a:buChar char="◼"/>
              <a:defRPr/>
            </a:lvl8pPr>
            <a:lvl9pPr indent="-298703" lvl="8" marL="4114800">
              <a:spcBef>
                <a:spcPts val="600"/>
              </a:spcBef>
              <a:spcAft>
                <a:spcPts val="600"/>
              </a:spcAft>
              <a:buSzPts val="1104"/>
              <a:buChar char="◼"/>
              <a:defRPr/>
            </a:lvl9pPr>
          </a:lstStyle>
          <a:p/>
        </p:txBody>
      </p:sp>
      <p:sp>
        <p:nvSpPr>
          <p:cNvPr id="109" name="Google Shape;109;p14"/>
          <p:cNvSpPr txBox="1"/>
          <p:nvPr>
            <p:ph idx="12" type="sldNum"/>
          </p:nvPr>
        </p:nvSpPr>
        <p:spPr>
          <a:xfrm>
            <a:off x="11381736" y="6333134"/>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2800"/>
              <a:buFont typeface="Montserrat Medium"/>
              <a:buNone/>
              <a:defRPr b="0" i="0" sz="2800" u="none" cap="none" strike="noStrike">
                <a:solidFill>
                  <a:schemeClr val="lt1"/>
                </a:solidFill>
                <a:latin typeface="Montserrat Medium"/>
                <a:ea typeface="Montserrat Medium"/>
                <a:cs typeface="Montserrat Medium"/>
                <a:sym typeface="Montserrat Mediu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lnSpc>
                <a:spcPct val="100000"/>
              </a:lnSpc>
              <a:spcBef>
                <a:spcPts val="360"/>
              </a:spcBef>
              <a:spcAft>
                <a:spcPts val="0"/>
              </a:spcAft>
              <a:buClr>
                <a:schemeClr val="accent2"/>
              </a:buClr>
              <a:buSzPts val="1656"/>
              <a:buFont typeface="Noto Sans Symbols"/>
              <a:buChar char="◼"/>
              <a:defRPr b="0" i="0" sz="1800" u="none" cap="none" strike="noStrike">
                <a:solidFill>
                  <a:schemeClr val="dk2"/>
                </a:solidFill>
                <a:latin typeface="Montserrat Medium"/>
                <a:ea typeface="Montserrat Medium"/>
                <a:cs typeface="Montserrat Medium"/>
                <a:sym typeface="Montserrat Medium"/>
              </a:defRPr>
            </a:lvl1pPr>
            <a:lvl2pPr indent="-322072" lvl="1" marL="914400" marR="0" rtl="0" algn="l">
              <a:lnSpc>
                <a:spcPct val="100000"/>
              </a:lnSpc>
              <a:spcBef>
                <a:spcPts val="600"/>
              </a:spcBef>
              <a:spcAft>
                <a:spcPts val="0"/>
              </a:spcAft>
              <a:buClr>
                <a:schemeClr val="accent2"/>
              </a:buClr>
              <a:buSzPts val="1472"/>
              <a:buFont typeface="Noto Sans Symbols"/>
              <a:buChar char="◼"/>
              <a:defRPr b="0" i="0" sz="1600" u="none" cap="none" strike="noStrike">
                <a:solidFill>
                  <a:schemeClr val="dk2"/>
                </a:solidFill>
                <a:latin typeface="Montserrat Medium"/>
                <a:ea typeface="Montserrat Medium"/>
                <a:cs typeface="Montserrat Medium"/>
                <a:sym typeface="Montserrat Medium"/>
              </a:defRPr>
            </a:lvl2pPr>
            <a:lvl3pPr indent="-310388" lvl="2" marL="1371600" marR="0" rtl="0" algn="l">
              <a:lnSpc>
                <a:spcPct val="100000"/>
              </a:lnSpc>
              <a:spcBef>
                <a:spcPts val="600"/>
              </a:spcBef>
              <a:spcAft>
                <a:spcPts val="0"/>
              </a:spcAft>
              <a:buClr>
                <a:schemeClr val="accent2"/>
              </a:buClr>
              <a:buSzPts val="1288"/>
              <a:buFont typeface="Noto Sans Symbols"/>
              <a:buChar char="◼"/>
              <a:defRPr b="0" i="0" sz="1400" u="none" cap="none" strike="noStrike">
                <a:solidFill>
                  <a:schemeClr val="dk2"/>
                </a:solidFill>
                <a:latin typeface="Montserrat Medium"/>
                <a:ea typeface="Montserrat Medium"/>
                <a:cs typeface="Montserrat Medium"/>
                <a:sym typeface="Montserrat Medium"/>
              </a:defRPr>
            </a:lvl3pPr>
            <a:lvl4pPr indent="-298703" lvl="3" marL="18288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Montserrat Medium"/>
                <a:ea typeface="Montserrat Medium"/>
                <a:cs typeface="Montserrat Medium"/>
                <a:sym typeface="Montserrat Medium"/>
              </a:defRPr>
            </a:lvl4pPr>
            <a:lvl5pPr indent="-298704" lvl="4" marL="22860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Montserrat Medium"/>
                <a:ea typeface="Montserrat Medium"/>
                <a:cs typeface="Montserrat Medium"/>
                <a:sym typeface="Montserrat Medium"/>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2" name="Google Shape;12;p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chemeClr val="accent2"/>
                </a:solidFill>
                <a:latin typeface="Montserrat Medium"/>
                <a:ea typeface="Montserrat Medium"/>
                <a:cs typeface="Montserrat Medium"/>
                <a:sym typeface="Montserrat Mediu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accent2"/>
                </a:solidFill>
                <a:latin typeface="Montserrat Medium"/>
                <a:ea typeface="Montserrat Medium"/>
                <a:cs typeface="Montserrat Medium"/>
                <a:sym typeface="Montserrat Mediu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4" name="Google Shape;14;p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7.jpg"/><Relationship Id="rId4" Type="http://schemas.openxmlformats.org/officeDocument/2006/relationships/image" Target="../media/image11.jp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12.jpg"/><Relationship Id="rId8" Type="http://schemas.openxmlformats.org/officeDocument/2006/relationships/image" Target="../media/image4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38.png"/><Relationship Id="rId6" Type="http://schemas.openxmlformats.org/officeDocument/2006/relationships/image" Target="../media/image40.png"/><Relationship Id="rId7"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34.png"/><Relationship Id="rId5"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p:nvPr/>
        </p:nvSpPr>
        <p:spPr>
          <a:xfrm>
            <a:off x="517899" y="1917175"/>
            <a:ext cx="7587600" cy="101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3A694"/>
              </a:buClr>
              <a:buSzPts val="6000"/>
              <a:buFont typeface="Bebas Neue"/>
              <a:buNone/>
            </a:pPr>
            <a:r>
              <a:rPr lang="en-US" sz="6000">
                <a:solidFill>
                  <a:srgbClr val="13A694"/>
                </a:solidFill>
                <a:latin typeface="Bebas Neue"/>
                <a:ea typeface="Bebas Neue"/>
                <a:cs typeface="Bebas Neue"/>
                <a:sym typeface="Bebas Neue"/>
              </a:rPr>
              <a:t>GBH: Boston Bus Equity</a:t>
            </a:r>
            <a:endParaRPr sz="6000">
              <a:solidFill>
                <a:srgbClr val="13A694"/>
              </a:solidFill>
              <a:latin typeface="Bebas Neue"/>
              <a:ea typeface="Bebas Neue"/>
              <a:cs typeface="Bebas Neue"/>
              <a:sym typeface="Bebas Neue"/>
            </a:endParaRPr>
          </a:p>
          <a:p>
            <a:pPr indent="0" lvl="0" marL="0" marR="0" rtl="0" algn="l">
              <a:lnSpc>
                <a:spcPct val="100000"/>
              </a:lnSpc>
              <a:spcBef>
                <a:spcPts val="0"/>
              </a:spcBef>
              <a:spcAft>
                <a:spcPts val="0"/>
              </a:spcAft>
              <a:buClr>
                <a:srgbClr val="13A694"/>
              </a:buClr>
              <a:buSzPts val="6000"/>
              <a:buFont typeface="Bebas Neue"/>
              <a:buNone/>
            </a:pPr>
            <a:r>
              <a:t/>
            </a:r>
            <a:endParaRPr sz="6000">
              <a:solidFill>
                <a:srgbClr val="13A694"/>
              </a:solidFill>
              <a:latin typeface="Bebas Neue"/>
              <a:ea typeface="Bebas Neue"/>
              <a:cs typeface="Bebas Neue"/>
              <a:sym typeface="Bebas Neue"/>
            </a:endParaRPr>
          </a:p>
          <a:p>
            <a:pPr indent="0" lvl="0" marL="0" marR="0" rtl="0" algn="l">
              <a:lnSpc>
                <a:spcPct val="100000"/>
              </a:lnSpc>
              <a:spcBef>
                <a:spcPts val="0"/>
              </a:spcBef>
              <a:spcAft>
                <a:spcPts val="0"/>
              </a:spcAft>
              <a:buClr>
                <a:srgbClr val="13A694"/>
              </a:buClr>
              <a:buSzPts val="6000"/>
              <a:buFont typeface="Bebas Neue"/>
              <a:buNone/>
            </a:pPr>
            <a:r>
              <a:t/>
            </a:r>
            <a:endParaRPr b="0" i="0" sz="6600" u="none" cap="none" strike="noStrike">
              <a:solidFill>
                <a:srgbClr val="13A694"/>
              </a:solidFill>
              <a:latin typeface="Bebas Neue"/>
              <a:ea typeface="Bebas Neue"/>
              <a:cs typeface="Bebas Neue"/>
              <a:sym typeface="Bebas Neue"/>
            </a:endParaRPr>
          </a:p>
        </p:txBody>
      </p:sp>
      <p:pic>
        <p:nvPicPr>
          <p:cNvPr id="115" name="Google Shape;115;p15"/>
          <p:cNvPicPr preferRelativeResize="0"/>
          <p:nvPr/>
        </p:nvPicPr>
        <p:blipFill rotWithShape="1">
          <a:blip r:embed="rId3">
            <a:alphaModFix/>
          </a:blip>
          <a:srcRect b="0" l="0" r="0" t="0"/>
          <a:stretch/>
        </p:blipFill>
        <p:spPr>
          <a:xfrm>
            <a:off x="8921175" y="3703250"/>
            <a:ext cx="2360925" cy="2314902"/>
          </a:xfrm>
          <a:prstGeom prst="rect">
            <a:avLst/>
          </a:prstGeom>
          <a:noFill/>
          <a:ln>
            <a:noFill/>
          </a:ln>
        </p:spPr>
      </p:pic>
      <p:sp>
        <p:nvSpPr>
          <p:cNvPr id="116" name="Google Shape;116;p15"/>
          <p:cNvSpPr/>
          <p:nvPr/>
        </p:nvSpPr>
        <p:spPr>
          <a:xfrm>
            <a:off x="647050" y="3237975"/>
            <a:ext cx="2361000" cy="101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3A694"/>
              </a:buClr>
              <a:buSzPts val="6000"/>
              <a:buFont typeface="Bebas Neue"/>
              <a:buNone/>
            </a:pPr>
            <a:r>
              <a:rPr lang="en-US" sz="4000">
                <a:solidFill>
                  <a:srgbClr val="13A694"/>
                </a:solidFill>
                <a:latin typeface="Bebas Neue"/>
                <a:ea typeface="Bebas Neue"/>
                <a:cs typeface="Bebas Neue"/>
                <a:sym typeface="Bebas Neue"/>
              </a:rPr>
              <a:t>Fall 2024</a:t>
            </a:r>
            <a:endParaRPr b="0" i="0" sz="6600" u="none" cap="none" strike="noStrike">
              <a:solidFill>
                <a:srgbClr val="13A694"/>
              </a:solidFill>
              <a:latin typeface="Bebas Neue"/>
              <a:ea typeface="Bebas Neue"/>
              <a:cs typeface="Bebas Neue"/>
              <a:sym typeface="Bebas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16"/>
          <p:cNvPicPr preferRelativeResize="0"/>
          <p:nvPr/>
        </p:nvPicPr>
        <p:blipFill rotWithShape="1">
          <a:blip r:embed="rId3">
            <a:alphaModFix/>
          </a:blip>
          <a:srcRect b="5686" l="20455" r="34067" t="22247"/>
          <a:stretch/>
        </p:blipFill>
        <p:spPr>
          <a:xfrm>
            <a:off x="7814500" y="2669325"/>
            <a:ext cx="1409701" cy="1409700"/>
          </a:xfrm>
          <a:prstGeom prst="rect">
            <a:avLst/>
          </a:prstGeom>
          <a:noFill/>
          <a:ln>
            <a:noFill/>
          </a:ln>
        </p:spPr>
      </p:pic>
      <p:sp>
        <p:nvSpPr>
          <p:cNvPr id="122" name="Google Shape;122;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accent3"/>
              </a:buClr>
              <a:buSzPts val="6000"/>
              <a:buFont typeface="Bebas Neue"/>
              <a:buNone/>
            </a:pPr>
            <a:r>
              <a:rPr lang="en-US" sz="6000">
                <a:solidFill>
                  <a:schemeClr val="accent3"/>
                </a:solidFill>
                <a:latin typeface="Bebas Neue"/>
                <a:ea typeface="Bebas Neue"/>
                <a:cs typeface="Bebas Neue"/>
                <a:sym typeface="Bebas Neue"/>
              </a:rPr>
              <a:t>Team Breakdown</a:t>
            </a:r>
            <a:endParaRPr/>
          </a:p>
        </p:txBody>
      </p:sp>
      <p:pic>
        <p:nvPicPr>
          <p:cNvPr id="123" name="Google Shape;123;p16"/>
          <p:cNvPicPr preferRelativeResize="0"/>
          <p:nvPr/>
        </p:nvPicPr>
        <p:blipFill rotWithShape="1">
          <a:blip r:embed="rId4">
            <a:alphaModFix/>
          </a:blip>
          <a:srcRect b="26993" l="0" r="0" t="6340"/>
          <a:stretch/>
        </p:blipFill>
        <p:spPr>
          <a:xfrm>
            <a:off x="2992300" y="2669325"/>
            <a:ext cx="1409699" cy="1409702"/>
          </a:xfrm>
          <a:prstGeom prst="rect">
            <a:avLst/>
          </a:prstGeom>
          <a:noFill/>
          <a:ln>
            <a:noFill/>
          </a:ln>
        </p:spPr>
      </p:pic>
      <p:pic>
        <p:nvPicPr>
          <p:cNvPr id="124" name="Google Shape;124;p16"/>
          <p:cNvPicPr preferRelativeResize="0"/>
          <p:nvPr/>
        </p:nvPicPr>
        <p:blipFill>
          <a:blip r:embed="rId5">
            <a:alphaModFix/>
          </a:blip>
          <a:stretch>
            <a:fillRect/>
          </a:stretch>
        </p:blipFill>
        <p:spPr>
          <a:xfrm>
            <a:off x="5422800" y="2669325"/>
            <a:ext cx="1409700" cy="1409700"/>
          </a:xfrm>
          <a:prstGeom prst="rect">
            <a:avLst/>
          </a:prstGeom>
          <a:noFill/>
          <a:ln>
            <a:noFill/>
          </a:ln>
        </p:spPr>
      </p:pic>
      <p:sp>
        <p:nvSpPr>
          <p:cNvPr id="125" name="Google Shape;125;p16"/>
          <p:cNvSpPr txBox="1"/>
          <p:nvPr/>
        </p:nvSpPr>
        <p:spPr>
          <a:xfrm>
            <a:off x="267650" y="4637575"/>
            <a:ext cx="2061300" cy="101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Mi-Ru Youn </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Data Science </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1st Year Master</a:t>
            </a:r>
            <a:endParaRPr sz="1800">
              <a:solidFill>
                <a:schemeClr val="dk2"/>
              </a:solidFill>
              <a:latin typeface="Montserrat Medium"/>
              <a:ea typeface="Montserrat Medium"/>
              <a:cs typeface="Montserrat Medium"/>
              <a:sym typeface="Montserrat Medium"/>
            </a:endParaRPr>
          </a:p>
        </p:txBody>
      </p:sp>
      <p:sp>
        <p:nvSpPr>
          <p:cNvPr id="126" name="Google Shape;126;p16"/>
          <p:cNvSpPr txBox="1"/>
          <p:nvPr/>
        </p:nvSpPr>
        <p:spPr>
          <a:xfrm>
            <a:off x="2666500" y="4637575"/>
            <a:ext cx="2061300" cy="101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Huihao Xing</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Data Science</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1st Year Master</a:t>
            </a:r>
            <a:endParaRPr sz="1800">
              <a:solidFill>
                <a:schemeClr val="dk2"/>
              </a:solidFill>
              <a:latin typeface="Montserrat Medium"/>
              <a:ea typeface="Montserrat Medium"/>
              <a:cs typeface="Montserrat Medium"/>
              <a:sym typeface="Montserrat Medium"/>
            </a:endParaRPr>
          </a:p>
        </p:txBody>
      </p:sp>
      <p:sp>
        <p:nvSpPr>
          <p:cNvPr id="127" name="Google Shape;127;p16"/>
          <p:cNvSpPr txBox="1"/>
          <p:nvPr/>
        </p:nvSpPr>
        <p:spPr>
          <a:xfrm>
            <a:off x="5065350" y="4637575"/>
            <a:ext cx="2061300" cy="101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Chen–Yu Liu</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Data Science </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1st Year Master</a:t>
            </a:r>
            <a:endParaRPr sz="1800">
              <a:solidFill>
                <a:schemeClr val="dk2"/>
              </a:solidFill>
              <a:latin typeface="Montserrat Medium"/>
              <a:ea typeface="Montserrat Medium"/>
              <a:cs typeface="Montserrat Medium"/>
              <a:sym typeface="Montserrat Medium"/>
            </a:endParaRPr>
          </a:p>
        </p:txBody>
      </p:sp>
      <p:sp>
        <p:nvSpPr>
          <p:cNvPr id="128" name="Google Shape;128;p16"/>
          <p:cNvSpPr txBox="1"/>
          <p:nvPr/>
        </p:nvSpPr>
        <p:spPr>
          <a:xfrm>
            <a:off x="7464200" y="4637575"/>
            <a:ext cx="2061300" cy="101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Namika Takada </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Data Science </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1st Year Masters</a:t>
            </a:r>
            <a:endParaRPr sz="1800">
              <a:solidFill>
                <a:schemeClr val="dk2"/>
              </a:solidFill>
              <a:latin typeface="Montserrat Medium"/>
              <a:ea typeface="Montserrat Medium"/>
              <a:cs typeface="Montserrat Medium"/>
              <a:sym typeface="Montserrat Medium"/>
            </a:endParaRPr>
          </a:p>
        </p:txBody>
      </p:sp>
      <p:sp>
        <p:nvSpPr>
          <p:cNvPr id="129" name="Google Shape;129;p16"/>
          <p:cNvSpPr txBox="1"/>
          <p:nvPr/>
        </p:nvSpPr>
        <p:spPr>
          <a:xfrm>
            <a:off x="9663913" y="4637575"/>
            <a:ext cx="2061300" cy="101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Youran Geng</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Data Science </a:t>
            </a:r>
            <a:endParaRPr sz="1800">
              <a:solidFill>
                <a:schemeClr val="dk2"/>
              </a:solidFill>
              <a:latin typeface="Montserrat Medium"/>
              <a:ea typeface="Montserrat Medium"/>
              <a:cs typeface="Montserrat Medium"/>
              <a:sym typeface="Montserrat Medium"/>
            </a:endParaRPr>
          </a:p>
          <a:p>
            <a:pPr indent="0" lvl="0" marL="0" rtl="0" algn="ctr">
              <a:spcBef>
                <a:spcPts val="0"/>
              </a:spcBef>
              <a:spcAft>
                <a:spcPts val="0"/>
              </a:spcAft>
              <a:buNone/>
            </a:pPr>
            <a:r>
              <a:rPr lang="en-US" sz="1800">
                <a:solidFill>
                  <a:schemeClr val="dk2"/>
                </a:solidFill>
                <a:latin typeface="Montserrat Medium"/>
                <a:ea typeface="Montserrat Medium"/>
                <a:cs typeface="Montserrat Medium"/>
                <a:sym typeface="Montserrat Medium"/>
              </a:rPr>
              <a:t>1st Year Master</a:t>
            </a:r>
            <a:endParaRPr sz="1800">
              <a:solidFill>
                <a:schemeClr val="dk2"/>
              </a:solidFill>
              <a:latin typeface="Montserrat Medium"/>
              <a:ea typeface="Montserrat Medium"/>
              <a:cs typeface="Montserrat Medium"/>
              <a:sym typeface="Montserrat Medium"/>
            </a:endParaRPr>
          </a:p>
        </p:txBody>
      </p:sp>
      <p:pic>
        <p:nvPicPr>
          <p:cNvPr id="130" name="Google Shape;130;p16"/>
          <p:cNvPicPr preferRelativeResize="0"/>
          <p:nvPr/>
        </p:nvPicPr>
        <p:blipFill>
          <a:blip r:embed="rId6">
            <a:alphaModFix/>
          </a:blip>
          <a:stretch>
            <a:fillRect/>
          </a:stretch>
        </p:blipFill>
        <p:spPr>
          <a:xfrm>
            <a:off x="581200" y="2669325"/>
            <a:ext cx="1409700" cy="1409700"/>
          </a:xfrm>
          <a:prstGeom prst="rect">
            <a:avLst/>
          </a:prstGeom>
          <a:noFill/>
          <a:ln>
            <a:noFill/>
          </a:ln>
        </p:spPr>
      </p:pic>
      <p:pic>
        <p:nvPicPr>
          <p:cNvPr id="131" name="Google Shape;131;p16"/>
          <p:cNvPicPr preferRelativeResize="0"/>
          <p:nvPr/>
        </p:nvPicPr>
        <p:blipFill rotWithShape="1">
          <a:blip r:embed="rId7">
            <a:alphaModFix/>
          </a:blip>
          <a:srcRect b="16867" l="0" r="0" t="0"/>
          <a:stretch/>
        </p:blipFill>
        <p:spPr>
          <a:xfrm>
            <a:off x="5403400" y="2669325"/>
            <a:ext cx="1409700" cy="1409700"/>
          </a:xfrm>
          <a:prstGeom prst="rect">
            <a:avLst/>
          </a:prstGeom>
          <a:noFill/>
          <a:ln>
            <a:noFill/>
          </a:ln>
        </p:spPr>
      </p:pic>
      <p:pic>
        <p:nvPicPr>
          <p:cNvPr id="132" name="Google Shape;132;p16"/>
          <p:cNvPicPr preferRelativeResize="0"/>
          <p:nvPr/>
        </p:nvPicPr>
        <p:blipFill>
          <a:blip r:embed="rId8">
            <a:alphaModFix/>
          </a:blip>
          <a:stretch>
            <a:fillRect/>
          </a:stretch>
        </p:blipFill>
        <p:spPr>
          <a:xfrm>
            <a:off x="10137288" y="2580200"/>
            <a:ext cx="1587927" cy="158792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17"/>
          <p:cNvPicPr preferRelativeResize="0"/>
          <p:nvPr/>
        </p:nvPicPr>
        <p:blipFill rotWithShape="1">
          <a:blip r:embed="rId3">
            <a:alphaModFix/>
          </a:blip>
          <a:srcRect b="0" l="16324" r="16331" t="0"/>
          <a:stretch/>
        </p:blipFill>
        <p:spPr>
          <a:xfrm>
            <a:off x="9973950" y="2252825"/>
            <a:ext cx="1624800" cy="1610400"/>
          </a:xfrm>
          <a:prstGeom prst="flowChartConnector">
            <a:avLst/>
          </a:prstGeom>
          <a:noFill/>
          <a:ln>
            <a:noFill/>
          </a:ln>
        </p:spPr>
      </p:pic>
      <p:sp>
        <p:nvSpPr>
          <p:cNvPr id="138" name="Google Shape;138;p1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None/>
            </a:pPr>
            <a:r>
              <a:rPr lang="en-US" sz="6000">
                <a:solidFill>
                  <a:schemeClr val="accent3"/>
                </a:solidFill>
                <a:latin typeface="Bebas Neue"/>
                <a:ea typeface="Bebas Neue"/>
                <a:cs typeface="Bebas Neue"/>
                <a:sym typeface="Bebas Neue"/>
              </a:rPr>
              <a:t>GBH Impact and Equity: Boston Bus Equity</a:t>
            </a:r>
            <a:endParaRPr sz="6000">
              <a:solidFill>
                <a:schemeClr val="accent3"/>
              </a:solidFill>
              <a:latin typeface="Bebas Neue"/>
              <a:ea typeface="Bebas Neue"/>
              <a:cs typeface="Bebas Neue"/>
              <a:sym typeface="Bebas Neue"/>
            </a:endParaRPr>
          </a:p>
        </p:txBody>
      </p:sp>
      <p:sp>
        <p:nvSpPr>
          <p:cNvPr id="139" name="Google Shape;139;p17"/>
          <p:cNvSpPr txBox="1"/>
          <p:nvPr/>
        </p:nvSpPr>
        <p:spPr>
          <a:xfrm>
            <a:off x="480050" y="1975925"/>
            <a:ext cx="927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latin typeface="Gill Sans"/>
                <a:ea typeface="Gill Sans"/>
                <a:cs typeface="Gill Sans"/>
                <a:sym typeface="Gill Sans"/>
              </a:rPr>
              <a:t>GBH/Paul Singer</a:t>
            </a:r>
            <a:r>
              <a:rPr lang="en-US" sz="1600">
                <a:latin typeface="Gill Sans"/>
                <a:ea typeface="Gill Sans"/>
                <a:cs typeface="Gill Sans"/>
                <a:sym typeface="Gill Sans"/>
              </a:rPr>
              <a:t>: Singer is a Senior Editor, Equity &amp; Justice, at GBH News, the local NPR affiliate. This project is intended to support the production of news stories. </a:t>
            </a:r>
            <a:endParaRPr sz="1600">
              <a:latin typeface="Gill Sans"/>
              <a:ea typeface="Gill Sans"/>
              <a:cs typeface="Gill Sans"/>
              <a:sym typeface="Gill Sans"/>
            </a:endParaRPr>
          </a:p>
        </p:txBody>
      </p:sp>
      <p:sp>
        <p:nvSpPr>
          <p:cNvPr id="140" name="Google Shape;140;p17"/>
          <p:cNvSpPr txBox="1"/>
          <p:nvPr/>
        </p:nvSpPr>
        <p:spPr>
          <a:xfrm>
            <a:off x="9823201" y="3902669"/>
            <a:ext cx="19263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Paul Singer </a:t>
            </a:r>
            <a:endParaRPr sz="1600">
              <a:solidFill>
                <a:schemeClr val="dk1"/>
              </a:solidFill>
              <a:latin typeface="Gill Sans"/>
              <a:ea typeface="Gill Sans"/>
              <a:cs typeface="Gill Sans"/>
              <a:sym typeface="Gill Sans"/>
            </a:endParaRPr>
          </a:p>
          <a:p>
            <a:pPr indent="0" lvl="0" marL="0" rtl="0" algn="ctr">
              <a:spcBef>
                <a:spcPts val="0"/>
              </a:spcBef>
              <a:spcAft>
                <a:spcPts val="0"/>
              </a:spcAft>
              <a:buClr>
                <a:srgbClr val="000000"/>
              </a:buClr>
              <a:buFont typeface="Arial"/>
              <a:buNone/>
            </a:pPr>
            <a:r>
              <a:rPr lang="en-US" sz="1200">
                <a:solidFill>
                  <a:schemeClr val="dk1"/>
                </a:solidFill>
              </a:rPr>
              <a:t>Senior Editor, Equity &amp; Justice, GBH News</a:t>
            </a:r>
            <a:endParaRPr b="1" sz="1200">
              <a:latin typeface="Calibri"/>
              <a:ea typeface="Calibri"/>
              <a:cs typeface="Calibri"/>
              <a:sym typeface="Calibri"/>
            </a:endParaRPr>
          </a:p>
        </p:txBody>
      </p:sp>
      <p:sp>
        <p:nvSpPr>
          <p:cNvPr id="141" name="Google Shape;141;p17"/>
          <p:cNvSpPr txBox="1"/>
          <p:nvPr/>
        </p:nvSpPr>
        <p:spPr>
          <a:xfrm>
            <a:off x="9823201" y="1975919"/>
            <a:ext cx="19263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200"/>
              <a:buFont typeface="Calibri"/>
              <a:buNone/>
            </a:pPr>
            <a:r>
              <a:rPr b="1" lang="en-US" sz="1200">
                <a:latin typeface="Calibri"/>
                <a:ea typeface="Calibri"/>
                <a:cs typeface="Calibri"/>
                <a:sym typeface="Calibri"/>
              </a:rPr>
              <a:t>CLIENT</a:t>
            </a:r>
            <a:endParaRPr b="0" i="0" sz="1100" u="none" cap="none" strike="noStrike">
              <a:solidFill>
                <a:schemeClr val="accent2"/>
              </a:solidFill>
              <a:latin typeface="Calibri"/>
              <a:ea typeface="Calibri"/>
              <a:cs typeface="Calibri"/>
              <a:sym typeface="Calibri"/>
            </a:endParaRPr>
          </a:p>
        </p:txBody>
      </p:sp>
      <p:sp>
        <p:nvSpPr>
          <p:cNvPr id="142" name="Google Shape;142;p17"/>
          <p:cNvSpPr txBox="1"/>
          <p:nvPr/>
        </p:nvSpPr>
        <p:spPr>
          <a:xfrm>
            <a:off x="480049" y="2772863"/>
            <a:ext cx="41622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accent3"/>
              </a:buClr>
              <a:buSzPts val="6000"/>
              <a:buFont typeface="Bebas Neue"/>
              <a:buNone/>
            </a:pPr>
            <a:r>
              <a:rPr lang="en-US" sz="2800">
                <a:solidFill>
                  <a:srgbClr val="13A694"/>
                </a:solidFill>
                <a:latin typeface="Bebas Neue"/>
                <a:ea typeface="Bebas Neue"/>
                <a:cs typeface="Bebas Neue"/>
                <a:sym typeface="Bebas Neue"/>
              </a:rPr>
              <a:t>project Description &amp; context</a:t>
            </a:r>
            <a:endParaRPr sz="2800">
              <a:solidFill>
                <a:srgbClr val="13A694"/>
              </a:solidFill>
              <a:latin typeface="Gill Sans"/>
              <a:ea typeface="Gill Sans"/>
              <a:cs typeface="Gill Sans"/>
              <a:sym typeface="Gill Sans"/>
            </a:endParaRPr>
          </a:p>
        </p:txBody>
      </p:sp>
      <p:sp>
        <p:nvSpPr>
          <p:cNvPr id="143" name="Google Shape;143;p17"/>
          <p:cNvSpPr txBox="1"/>
          <p:nvPr/>
        </p:nvSpPr>
        <p:spPr>
          <a:xfrm>
            <a:off x="480050" y="4471975"/>
            <a:ext cx="35574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accent3"/>
              </a:buClr>
              <a:buSzPts val="6000"/>
              <a:buFont typeface="Bebas Neue"/>
              <a:buNone/>
            </a:pPr>
            <a:r>
              <a:rPr lang="en-US" sz="2800">
                <a:solidFill>
                  <a:srgbClr val="13A694"/>
                </a:solidFill>
                <a:latin typeface="Bebas Neue"/>
                <a:ea typeface="Bebas Neue"/>
                <a:cs typeface="Bebas Neue"/>
                <a:sym typeface="Bebas Neue"/>
              </a:rPr>
              <a:t>expected final deliverables </a:t>
            </a:r>
            <a:endParaRPr sz="2800">
              <a:solidFill>
                <a:srgbClr val="13A694"/>
              </a:solidFill>
              <a:latin typeface="Gill Sans"/>
              <a:ea typeface="Gill Sans"/>
              <a:cs typeface="Gill Sans"/>
              <a:sym typeface="Gill Sans"/>
            </a:endParaRPr>
          </a:p>
        </p:txBody>
      </p:sp>
      <p:sp>
        <p:nvSpPr>
          <p:cNvPr id="144" name="Google Shape;144;p17"/>
          <p:cNvSpPr txBox="1"/>
          <p:nvPr/>
        </p:nvSpPr>
        <p:spPr>
          <a:xfrm>
            <a:off x="511800" y="4995175"/>
            <a:ext cx="11372400" cy="1493100"/>
          </a:xfrm>
          <a:prstGeom prst="rect">
            <a:avLst/>
          </a:prstGeom>
          <a:noFill/>
          <a:ln cap="flat" cmpd="sng" w="9525">
            <a:solidFill>
              <a:srgbClr val="13A694"/>
            </a:solidFill>
            <a:prstDash val="solid"/>
            <a:round/>
            <a:headEnd len="sm" w="sm" type="none"/>
            <a:tailEnd len="sm" w="sm" type="none"/>
          </a:ln>
        </p:spPr>
        <p:txBody>
          <a:bodyPr anchorCtr="0" anchor="t" bIns="91425" lIns="91425" spcFirstLastPara="1" rIns="91425" wrap="square" tIns="91425">
            <a:spAutoFit/>
          </a:bodyPr>
          <a:lstStyle/>
          <a:p>
            <a:pPr indent="-327406" lvl="0" marL="457200" rtl="0" algn="l">
              <a:spcBef>
                <a:spcPts val="360"/>
              </a:spcBef>
              <a:spcAft>
                <a:spcPts val="0"/>
              </a:spcAft>
              <a:buClr>
                <a:schemeClr val="accent2"/>
              </a:buClr>
              <a:buSzPts val="1556"/>
              <a:buFont typeface="Noto Sans Symbols"/>
              <a:buChar char="◼"/>
            </a:pPr>
            <a:r>
              <a:rPr lang="en-US" sz="1700">
                <a:solidFill>
                  <a:schemeClr val="dk2"/>
                </a:solidFill>
                <a:latin typeface="Montserrat Medium"/>
                <a:ea typeface="Montserrat Medium"/>
                <a:cs typeface="Montserrat Medium"/>
                <a:sym typeface="Montserrat Medium"/>
              </a:rPr>
              <a:t>Deliver a detailed analysis of MBTA bus performance (2019–2022).</a:t>
            </a:r>
            <a:endParaRPr sz="1700">
              <a:solidFill>
                <a:schemeClr val="dk2"/>
              </a:solidFill>
              <a:latin typeface="Montserrat Medium"/>
              <a:ea typeface="Montserrat Medium"/>
              <a:cs typeface="Montserrat Medium"/>
              <a:sym typeface="Montserrat Medium"/>
            </a:endParaRPr>
          </a:p>
          <a:p>
            <a:pPr indent="-327406" lvl="0" marL="457200" rtl="0" algn="l">
              <a:spcBef>
                <a:spcPts val="0"/>
              </a:spcBef>
              <a:spcAft>
                <a:spcPts val="0"/>
              </a:spcAft>
              <a:buClr>
                <a:schemeClr val="accent2"/>
              </a:buClr>
              <a:buSzPts val="1556"/>
              <a:buFont typeface="Noto Sans Symbols"/>
              <a:buChar char="◼"/>
            </a:pPr>
            <a:r>
              <a:rPr lang="en-US" sz="1700">
                <a:solidFill>
                  <a:schemeClr val="dk2"/>
                </a:solidFill>
                <a:latin typeface="Montserrat Medium"/>
                <a:ea typeface="Montserrat Medium"/>
                <a:cs typeface="Montserrat Medium"/>
                <a:sym typeface="Montserrat Medium"/>
              </a:rPr>
              <a:t>Compare ridership and reliability data for each bus route across the years.</a:t>
            </a:r>
            <a:endParaRPr sz="1700">
              <a:solidFill>
                <a:schemeClr val="dk2"/>
              </a:solidFill>
              <a:latin typeface="Montserrat Medium"/>
              <a:ea typeface="Montserrat Medium"/>
              <a:cs typeface="Montserrat Medium"/>
              <a:sym typeface="Montserrat Medium"/>
            </a:endParaRPr>
          </a:p>
          <a:p>
            <a:pPr indent="-327406" lvl="0" marL="457200" rtl="0" algn="l">
              <a:spcBef>
                <a:spcPts val="0"/>
              </a:spcBef>
              <a:spcAft>
                <a:spcPts val="0"/>
              </a:spcAft>
              <a:buClr>
                <a:schemeClr val="accent2"/>
              </a:buClr>
              <a:buSzPts val="1556"/>
              <a:buFont typeface="Noto Sans Symbols"/>
              <a:buChar char="◼"/>
            </a:pPr>
            <a:r>
              <a:rPr lang="en-US" sz="1700">
                <a:solidFill>
                  <a:schemeClr val="dk2"/>
                </a:solidFill>
                <a:latin typeface="Montserrat Medium"/>
                <a:ea typeface="Montserrat Medium"/>
                <a:cs typeface="Montserrat Medium"/>
                <a:sym typeface="Montserrat Medium"/>
              </a:rPr>
              <a:t>Identify areas where bus service can improve to meet community needs.</a:t>
            </a:r>
            <a:endParaRPr sz="1700">
              <a:solidFill>
                <a:schemeClr val="dk2"/>
              </a:solidFill>
              <a:latin typeface="Montserrat Medium"/>
              <a:ea typeface="Montserrat Medium"/>
              <a:cs typeface="Montserrat Medium"/>
              <a:sym typeface="Montserrat Medium"/>
            </a:endParaRPr>
          </a:p>
          <a:p>
            <a:pPr indent="-327406" lvl="0" marL="457200" rtl="0" algn="l">
              <a:spcBef>
                <a:spcPts val="0"/>
              </a:spcBef>
              <a:spcAft>
                <a:spcPts val="0"/>
              </a:spcAft>
              <a:buClr>
                <a:schemeClr val="accent2"/>
              </a:buClr>
              <a:buSzPts val="1556"/>
              <a:buFont typeface="Noto Sans Symbols"/>
              <a:buChar char="◼"/>
            </a:pPr>
            <a:r>
              <a:rPr lang="en-US" sz="1700">
                <a:solidFill>
                  <a:schemeClr val="dk2"/>
                </a:solidFill>
                <a:latin typeface="Montserrat Medium"/>
                <a:ea typeface="Montserrat Medium"/>
                <a:cs typeface="Montserrat Medium"/>
                <a:sym typeface="Montserrat Medium"/>
              </a:rPr>
              <a:t>Inform data-driven decision-making for policymakers and the MBTA.</a:t>
            </a:r>
            <a:endParaRPr sz="1700">
              <a:solidFill>
                <a:schemeClr val="dk2"/>
              </a:solidFill>
              <a:latin typeface="Montserrat Medium"/>
              <a:ea typeface="Montserrat Medium"/>
              <a:cs typeface="Montserrat Medium"/>
              <a:sym typeface="Montserrat Medium"/>
            </a:endParaRPr>
          </a:p>
          <a:p>
            <a:pPr indent="-327406" lvl="0" marL="457200" rtl="0" algn="l">
              <a:spcBef>
                <a:spcPts val="0"/>
              </a:spcBef>
              <a:spcAft>
                <a:spcPts val="0"/>
              </a:spcAft>
              <a:buClr>
                <a:schemeClr val="accent2"/>
              </a:buClr>
              <a:buSzPts val="1556"/>
              <a:buFont typeface="Noto Sans Symbols"/>
              <a:buChar char="◼"/>
            </a:pPr>
            <a:r>
              <a:rPr lang="en-US" sz="1700">
                <a:solidFill>
                  <a:schemeClr val="dk2"/>
                </a:solidFill>
                <a:latin typeface="Montserrat Medium"/>
                <a:ea typeface="Montserrat Medium"/>
                <a:cs typeface="Montserrat Medium"/>
                <a:sym typeface="Montserrat Medium"/>
              </a:rPr>
              <a:t>Enhance overall transit system performance to better serve Boston residents and communities.</a:t>
            </a:r>
            <a:endParaRPr sz="1100">
              <a:solidFill>
                <a:srgbClr val="201F1E"/>
              </a:solidFill>
              <a:latin typeface="Gill Sans"/>
              <a:ea typeface="Gill Sans"/>
              <a:cs typeface="Gill Sans"/>
              <a:sym typeface="Gill Sans"/>
            </a:endParaRPr>
          </a:p>
        </p:txBody>
      </p:sp>
      <p:sp>
        <p:nvSpPr>
          <p:cNvPr id="145" name="Google Shape;145;p17"/>
          <p:cNvSpPr/>
          <p:nvPr/>
        </p:nvSpPr>
        <p:spPr>
          <a:xfrm>
            <a:off x="11884075" y="125250"/>
            <a:ext cx="156600" cy="156600"/>
          </a:xfrm>
          <a:prstGeom prst="ellipse">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
        <p:nvSpPr>
          <p:cNvPr id="146" name="Google Shape;146;p17"/>
          <p:cNvSpPr txBox="1"/>
          <p:nvPr/>
        </p:nvSpPr>
        <p:spPr>
          <a:xfrm>
            <a:off x="511800" y="3223800"/>
            <a:ext cx="8828400" cy="1200600"/>
          </a:xfrm>
          <a:prstGeom prst="rect">
            <a:avLst/>
          </a:prstGeom>
          <a:noFill/>
          <a:ln cap="flat" cmpd="sng" w="9525">
            <a:solidFill>
              <a:srgbClr val="13A694"/>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100">
                <a:solidFill>
                  <a:schemeClr val="dk1"/>
                </a:solidFill>
                <a:latin typeface="Gill Sans"/>
                <a:ea typeface="Gill Sans"/>
                <a:cs typeface="Gill Sans"/>
                <a:sym typeface="Gill Sans"/>
              </a:rPr>
              <a:t>Public transport in Boston has a nearly 400-year history, with the first ferry services starting in the 1600’s. Today, the MBTA is a staple of the Massachusetts bay area, serving more than 1 million people a day. The added economic value of the MBTA for the greater Boston area is estimated to be around 11.5 billion per year. Public transport plays an important role in the quality of life for residents in Massachusetts and Boston in terms of economic development, the environment, and equity. It is important to note that public transit is managed by the MBTA, a state agency, and not the City of Boston but they can provide input into decisions such as bus routes, on behalf of the community. The goal of this project is to better understand the impact of bus performance on Boston residents by using MBTA bus data to examine service performance trends by geography.</a:t>
            </a:r>
            <a:endParaRPr>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txBox="1"/>
          <p:nvPr>
            <p:ph type="title"/>
          </p:nvPr>
        </p:nvSpPr>
        <p:spPr>
          <a:xfrm>
            <a:off x="581192" y="702156"/>
            <a:ext cx="11029500" cy="1013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sz="6000">
                <a:solidFill>
                  <a:schemeClr val="accent3"/>
                </a:solidFill>
                <a:latin typeface="Bebas Neue"/>
                <a:ea typeface="Bebas Neue"/>
                <a:cs typeface="Bebas Neue"/>
                <a:sym typeface="Bebas Neue"/>
              </a:rPr>
              <a:t>Process</a:t>
            </a:r>
            <a:endParaRPr/>
          </a:p>
        </p:txBody>
      </p:sp>
      <p:grpSp>
        <p:nvGrpSpPr>
          <p:cNvPr id="153" name="Google Shape;153;p18"/>
          <p:cNvGrpSpPr/>
          <p:nvPr/>
        </p:nvGrpSpPr>
        <p:grpSpPr>
          <a:xfrm>
            <a:off x="3775281" y="2066820"/>
            <a:ext cx="4233494" cy="4233494"/>
            <a:chOff x="2820225" y="891450"/>
            <a:chExt cx="3175200" cy="3175200"/>
          </a:xfrm>
        </p:grpSpPr>
        <p:sp>
          <p:nvSpPr>
            <p:cNvPr id="154" name="Google Shape;154;p18"/>
            <p:cNvSpPr/>
            <p:nvPr/>
          </p:nvSpPr>
          <p:spPr>
            <a:xfrm rot="10800000">
              <a:off x="2820225" y="891450"/>
              <a:ext cx="3175200" cy="3175200"/>
            </a:xfrm>
            <a:prstGeom prst="blockArc">
              <a:avLst>
                <a:gd fmla="val 5399801" name="adj1"/>
                <a:gd fmla="val 3012680" name="adj2"/>
                <a:gd fmla="val 6939" name="adj3"/>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 name="Google Shape;155;p18"/>
            <p:cNvSpPr/>
            <p:nvPr/>
          </p:nvSpPr>
          <p:spPr>
            <a:xfrm rot="10800000">
              <a:off x="3175023" y="1179900"/>
              <a:ext cx="450600" cy="450600"/>
            </a:xfrm>
            <a:prstGeom prst="rtTriangle">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56" name="Google Shape;156;p18"/>
          <p:cNvGrpSpPr/>
          <p:nvPr/>
        </p:nvGrpSpPr>
        <p:grpSpPr>
          <a:xfrm>
            <a:off x="6855404" y="3640151"/>
            <a:ext cx="1776356" cy="1219570"/>
            <a:chOff x="5130375" y="2071477"/>
            <a:chExt cx="1332300" cy="914700"/>
          </a:xfrm>
        </p:grpSpPr>
        <p:sp>
          <p:nvSpPr>
            <p:cNvPr id="157" name="Google Shape;157;p18"/>
            <p:cNvSpPr/>
            <p:nvPr/>
          </p:nvSpPr>
          <p:spPr>
            <a:xfrm>
              <a:off x="5130375" y="2356477"/>
              <a:ext cx="1332300" cy="629700"/>
            </a:xfrm>
            <a:prstGeom prst="rect">
              <a:avLst/>
            </a:prstGeom>
            <a:solidFill>
              <a:schemeClr val="dk2"/>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100">
                  <a:solidFill>
                    <a:srgbClr val="FFFFFF"/>
                  </a:solidFill>
                  <a:latin typeface="Roboto"/>
                  <a:ea typeface="Roboto"/>
                  <a:cs typeface="Roboto"/>
                  <a:sym typeface="Roboto"/>
                </a:rPr>
                <a:t>Conduct Preliminary Analysis</a:t>
              </a:r>
              <a:endParaRPr sz="1900">
                <a:solidFill>
                  <a:srgbClr val="FFFFFF"/>
                </a:solidFill>
              </a:endParaRPr>
            </a:p>
          </p:txBody>
        </p:sp>
        <p:sp>
          <p:nvSpPr>
            <p:cNvPr id="158" name="Google Shape;158;p18"/>
            <p:cNvSpPr/>
            <p:nvPr/>
          </p:nvSpPr>
          <p:spPr>
            <a:xfrm>
              <a:off x="5130375" y="2071477"/>
              <a:ext cx="1332300" cy="285000"/>
            </a:xfrm>
            <a:prstGeom prst="round1Rect">
              <a:avLst>
                <a:gd fmla="val 50000"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Clr>
                  <a:schemeClr val="dk1"/>
                </a:buClr>
                <a:buSzPts val="1100"/>
                <a:buFont typeface="Arial"/>
                <a:buNone/>
              </a:pPr>
              <a:r>
                <a:rPr lang="en-US" sz="1100">
                  <a:solidFill>
                    <a:schemeClr val="lt1"/>
                  </a:solidFill>
                  <a:latin typeface="Roboto"/>
                  <a:ea typeface="Roboto"/>
                  <a:cs typeface="Roboto"/>
                  <a:sym typeface="Roboto"/>
                </a:rPr>
                <a:t>Stage 2</a:t>
              </a:r>
              <a:endParaRPr sz="1100">
                <a:solidFill>
                  <a:srgbClr val="FFFFFF"/>
                </a:solidFill>
              </a:endParaRPr>
            </a:p>
          </p:txBody>
        </p:sp>
      </p:grpSp>
      <p:grpSp>
        <p:nvGrpSpPr>
          <p:cNvPr id="159" name="Google Shape;159;p18"/>
          <p:cNvGrpSpPr/>
          <p:nvPr/>
        </p:nvGrpSpPr>
        <p:grpSpPr>
          <a:xfrm>
            <a:off x="5079048" y="1912267"/>
            <a:ext cx="1776356" cy="1219570"/>
            <a:chOff x="3798075" y="775532"/>
            <a:chExt cx="1332300" cy="914700"/>
          </a:xfrm>
        </p:grpSpPr>
        <p:sp>
          <p:nvSpPr>
            <p:cNvPr id="160" name="Google Shape;160;p18"/>
            <p:cNvSpPr/>
            <p:nvPr/>
          </p:nvSpPr>
          <p:spPr>
            <a:xfrm>
              <a:off x="3798075" y="1060532"/>
              <a:ext cx="1332300" cy="629700"/>
            </a:xfrm>
            <a:prstGeom prst="rect">
              <a:avLst/>
            </a:prstGeom>
            <a:solidFill>
              <a:schemeClr val="dk2"/>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100">
                  <a:solidFill>
                    <a:srgbClr val="FFFFFF"/>
                  </a:solidFill>
                  <a:latin typeface="Roboto"/>
                  <a:ea typeface="Roboto"/>
                  <a:cs typeface="Roboto"/>
                  <a:sym typeface="Roboto"/>
                </a:rPr>
                <a:t>Gather Required Datasets</a:t>
              </a:r>
              <a:endParaRPr sz="1100">
                <a:solidFill>
                  <a:srgbClr val="FFFFFF"/>
                </a:solidFill>
                <a:latin typeface="Roboto"/>
                <a:ea typeface="Roboto"/>
                <a:cs typeface="Roboto"/>
                <a:sym typeface="Roboto"/>
              </a:endParaRPr>
            </a:p>
          </p:txBody>
        </p:sp>
        <p:sp>
          <p:nvSpPr>
            <p:cNvPr id="161" name="Google Shape;161;p18"/>
            <p:cNvSpPr/>
            <p:nvPr/>
          </p:nvSpPr>
          <p:spPr>
            <a:xfrm>
              <a:off x="3798075" y="775532"/>
              <a:ext cx="1332300" cy="285000"/>
            </a:xfrm>
            <a:prstGeom prst="round1Rect">
              <a:avLst>
                <a:gd fmla="val 50000"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1100">
                  <a:solidFill>
                    <a:srgbClr val="FFFFFF"/>
                  </a:solidFill>
                  <a:latin typeface="Roboto"/>
                  <a:ea typeface="Roboto"/>
                  <a:cs typeface="Roboto"/>
                  <a:sym typeface="Roboto"/>
                </a:rPr>
                <a:t>Stage 1</a:t>
              </a:r>
              <a:endParaRPr sz="1100">
                <a:solidFill>
                  <a:srgbClr val="FFFFFF"/>
                </a:solidFill>
              </a:endParaRPr>
            </a:p>
          </p:txBody>
        </p:sp>
      </p:grpSp>
      <p:grpSp>
        <p:nvGrpSpPr>
          <p:cNvPr id="162" name="Google Shape;162;p18"/>
          <p:cNvGrpSpPr/>
          <p:nvPr/>
        </p:nvGrpSpPr>
        <p:grpSpPr>
          <a:xfrm>
            <a:off x="3302693" y="3640151"/>
            <a:ext cx="1776356" cy="1219570"/>
            <a:chOff x="2465775" y="2071477"/>
            <a:chExt cx="1332300" cy="914700"/>
          </a:xfrm>
        </p:grpSpPr>
        <p:sp>
          <p:nvSpPr>
            <p:cNvPr id="163" name="Google Shape;163;p18"/>
            <p:cNvSpPr/>
            <p:nvPr/>
          </p:nvSpPr>
          <p:spPr>
            <a:xfrm>
              <a:off x="2465775" y="2356477"/>
              <a:ext cx="1332300" cy="629700"/>
            </a:xfrm>
            <a:prstGeom prst="rect">
              <a:avLst/>
            </a:prstGeom>
            <a:solidFill>
              <a:schemeClr val="dk2"/>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100">
                  <a:solidFill>
                    <a:srgbClr val="FFFFFF"/>
                  </a:solidFill>
                  <a:latin typeface="Roboto"/>
                  <a:ea typeface="Roboto"/>
                  <a:cs typeface="Roboto"/>
                  <a:sym typeface="Roboto"/>
                </a:rPr>
                <a:t>Received Feedback</a:t>
              </a:r>
              <a:endParaRPr sz="1900">
                <a:solidFill>
                  <a:srgbClr val="FFFFFF"/>
                </a:solidFill>
              </a:endParaRPr>
            </a:p>
          </p:txBody>
        </p:sp>
        <p:sp>
          <p:nvSpPr>
            <p:cNvPr id="164" name="Google Shape;164;p18"/>
            <p:cNvSpPr/>
            <p:nvPr/>
          </p:nvSpPr>
          <p:spPr>
            <a:xfrm>
              <a:off x="2465775" y="2071477"/>
              <a:ext cx="1332300" cy="285000"/>
            </a:xfrm>
            <a:prstGeom prst="round1Rect">
              <a:avLst>
                <a:gd fmla="val 50000"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Clr>
                  <a:schemeClr val="dk1"/>
                </a:buClr>
                <a:buSzPts val="1100"/>
                <a:buFont typeface="Arial"/>
                <a:buNone/>
              </a:pPr>
              <a:r>
                <a:rPr lang="en-US" sz="1100">
                  <a:solidFill>
                    <a:schemeClr val="lt1"/>
                  </a:solidFill>
                  <a:latin typeface="Roboto"/>
                  <a:ea typeface="Roboto"/>
                  <a:cs typeface="Roboto"/>
                  <a:sym typeface="Roboto"/>
                </a:rPr>
                <a:t>Stage 4</a:t>
              </a:r>
              <a:endParaRPr sz="1100">
                <a:solidFill>
                  <a:srgbClr val="FFFFFF"/>
                </a:solidFill>
              </a:endParaRPr>
            </a:p>
          </p:txBody>
        </p:sp>
      </p:grpSp>
      <p:grpSp>
        <p:nvGrpSpPr>
          <p:cNvPr id="165" name="Google Shape;165;p18"/>
          <p:cNvGrpSpPr/>
          <p:nvPr/>
        </p:nvGrpSpPr>
        <p:grpSpPr>
          <a:xfrm>
            <a:off x="3775281" y="2066820"/>
            <a:ext cx="4233494" cy="4233494"/>
            <a:chOff x="2820225" y="891450"/>
            <a:chExt cx="3175200" cy="3175200"/>
          </a:xfrm>
        </p:grpSpPr>
        <p:sp>
          <p:nvSpPr>
            <p:cNvPr id="166" name="Google Shape;166;p18"/>
            <p:cNvSpPr/>
            <p:nvPr/>
          </p:nvSpPr>
          <p:spPr>
            <a:xfrm rot="10800000">
              <a:off x="2820225" y="891450"/>
              <a:ext cx="3175200" cy="3175200"/>
            </a:xfrm>
            <a:prstGeom prst="blockArc">
              <a:avLst>
                <a:gd fmla="val 5399801" name="adj1"/>
                <a:gd fmla="val 3012680" name="adj2"/>
                <a:gd fmla="val 6939" name="adj3"/>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 name="Google Shape;167;p18"/>
            <p:cNvSpPr/>
            <p:nvPr/>
          </p:nvSpPr>
          <p:spPr>
            <a:xfrm rot="10800000">
              <a:off x="3175023" y="1179900"/>
              <a:ext cx="450600" cy="450600"/>
            </a:xfrm>
            <a:prstGeom prst="rtTriangle">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8" name="Google Shape;168;p18"/>
          <p:cNvGrpSpPr/>
          <p:nvPr/>
        </p:nvGrpSpPr>
        <p:grpSpPr>
          <a:xfrm>
            <a:off x="6855404" y="3640151"/>
            <a:ext cx="1776356" cy="1219570"/>
            <a:chOff x="5130375" y="2071477"/>
            <a:chExt cx="1332300" cy="914700"/>
          </a:xfrm>
        </p:grpSpPr>
        <p:sp>
          <p:nvSpPr>
            <p:cNvPr id="169" name="Google Shape;169;p18"/>
            <p:cNvSpPr/>
            <p:nvPr/>
          </p:nvSpPr>
          <p:spPr>
            <a:xfrm>
              <a:off x="5130375" y="2356477"/>
              <a:ext cx="1332300" cy="629700"/>
            </a:xfrm>
            <a:prstGeom prst="rect">
              <a:avLst/>
            </a:prstGeom>
            <a:solidFill>
              <a:schemeClr val="dk2"/>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100">
                  <a:solidFill>
                    <a:srgbClr val="FFFFFF"/>
                  </a:solidFill>
                  <a:latin typeface="Roboto"/>
                  <a:ea typeface="Roboto"/>
                  <a:cs typeface="Roboto"/>
                  <a:sym typeface="Roboto"/>
                </a:rPr>
                <a:t>Conduct Preliminary Analysis</a:t>
              </a:r>
              <a:endParaRPr sz="1900">
                <a:solidFill>
                  <a:srgbClr val="FFFFFF"/>
                </a:solidFill>
              </a:endParaRPr>
            </a:p>
          </p:txBody>
        </p:sp>
        <p:sp>
          <p:nvSpPr>
            <p:cNvPr id="170" name="Google Shape;170;p18"/>
            <p:cNvSpPr/>
            <p:nvPr/>
          </p:nvSpPr>
          <p:spPr>
            <a:xfrm>
              <a:off x="5130375" y="2071477"/>
              <a:ext cx="1332300" cy="285000"/>
            </a:xfrm>
            <a:prstGeom prst="round1Rect">
              <a:avLst>
                <a:gd fmla="val 50000"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Clr>
                  <a:schemeClr val="dk1"/>
                </a:buClr>
                <a:buSzPts val="1100"/>
                <a:buFont typeface="Arial"/>
                <a:buNone/>
              </a:pPr>
              <a:r>
                <a:rPr lang="en-US" sz="1100">
                  <a:solidFill>
                    <a:schemeClr val="lt1"/>
                  </a:solidFill>
                  <a:latin typeface="Roboto"/>
                  <a:ea typeface="Roboto"/>
                  <a:cs typeface="Roboto"/>
                  <a:sym typeface="Roboto"/>
                </a:rPr>
                <a:t>Stage 2</a:t>
              </a:r>
              <a:endParaRPr sz="1100">
                <a:solidFill>
                  <a:srgbClr val="FFFFFF"/>
                </a:solidFill>
              </a:endParaRPr>
            </a:p>
          </p:txBody>
        </p:sp>
      </p:grpSp>
      <p:grpSp>
        <p:nvGrpSpPr>
          <p:cNvPr id="171" name="Google Shape;171;p18"/>
          <p:cNvGrpSpPr/>
          <p:nvPr/>
        </p:nvGrpSpPr>
        <p:grpSpPr>
          <a:xfrm>
            <a:off x="5079048" y="1912267"/>
            <a:ext cx="1776356" cy="1219570"/>
            <a:chOff x="3798075" y="775532"/>
            <a:chExt cx="1332300" cy="914700"/>
          </a:xfrm>
        </p:grpSpPr>
        <p:sp>
          <p:nvSpPr>
            <p:cNvPr id="172" name="Google Shape;172;p18"/>
            <p:cNvSpPr/>
            <p:nvPr/>
          </p:nvSpPr>
          <p:spPr>
            <a:xfrm>
              <a:off x="3798075" y="1060532"/>
              <a:ext cx="1332300" cy="629700"/>
            </a:xfrm>
            <a:prstGeom prst="rect">
              <a:avLst/>
            </a:prstGeom>
            <a:solidFill>
              <a:schemeClr val="dk2"/>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100">
                  <a:solidFill>
                    <a:srgbClr val="FFFFFF"/>
                  </a:solidFill>
                  <a:latin typeface="Roboto"/>
                  <a:ea typeface="Roboto"/>
                  <a:cs typeface="Roboto"/>
                  <a:sym typeface="Roboto"/>
                </a:rPr>
                <a:t>Gather Required Datasets</a:t>
              </a:r>
              <a:endParaRPr sz="1100">
                <a:solidFill>
                  <a:srgbClr val="FFFFFF"/>
                </a:solidFill>
                <a:latin typeface="Roboto"/>
                <a:ea typeface="Roboto"/>
                <a:cs typeface="Roboto"/>
                <a:sym typeface="Roboto"/>
              </a:endParaRPr>
            </a:p>
          </p:txBody>
        </p:sp>
        <p:sp>
          <p:nvSpPr>
            <p:cNvPr id="173" name="Google Shape;173;p18"/>
            <p:cNvSpPr/>
            <p:nvPr/>
          </p:nvSpPr>
          <p:spPr>
            <a:xfrm>
              <a:off x="3798075" y="775532"/>
              <a:ext cx="1332300" cy="285000"/>
            </a:xfrm>
            <a:prstGeom prst="round1Rect">
              <a:avLst>
                <a:gd fmla="val 50000"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1100">
                  <a:solidFill>
                    <a:srgbClr val="FFFFFF"/>
                  </a:solidFill>
                  <a:latin typeface="Roboto"/>
                  <a:ea typeface="Roboto"/>
                  <a:cs typeface="Roboto"/>
                  <a:sym typeface="Roboto"/>
                </a:rPr>
                <a:t>Stage 1</a:t>
              </a:r>
              <a:endParaRPr sz="1100">
                <a:solidFill>
                  <a:srgbClr val="FFFFFF"/>
                </a:solidFill>
              </a:endParaRPr>
            </a:p>
          </p:txBody>
        </p:sp>
      </p:grpSp>
      <p:grpSp>
        <p:nvGrpSpPr>
          <p:cNvPr id="174" name="Google Shape;174;p18"/>
          <p:cNvGrpSpPr/>
          <p:nvPr/>
        </p:nvGrpSpPr>
        <p:grpSpPr>
          <a:xfrm>
            <a:off x="3302693" y="3640151"/>
            <a:ext cx="1776356" cy="1219570"/>
            <a:chOff x="2465775" y="2071477"/>
            <a:chExt cx="1332300" cy="914700"/>
          </a:xfrm>
        </p:grpSpPr>
        <p:sp>
          <p:nvSpPr>
            <p:cNvPr id="175" name="Google Shape;175;p18"/>
            <p:cNvSpPr/>
            <p:nvPr/>
          </p:nvSpPr>
          <p:spPr>
            <a:xfrm>
              <a:off x="2465775" y="2356477"/>
              <a:ext cx="1332300" cy="629700"/>
            </a:xfrm>
            <a:prstGeom prst="rect">
              <a:avLst/>
            </a:prstGeom>
            <a:solidFill>
              <a:schemeClr val="dk2"/>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100">
                  <a:solidFill>
                    <a:srgbClr val="FFFFFF"/>
                  </a:solidFill>
                  <a:latin typeface="Roboto"/>
                  <a:ea typeface="Roboto"/>
                  <a:cs typeface="Roboto"/>
                  <a:sym typeface="Roboto"/>
                </a:rPr>
                <a:t>Received Feedback</a:t>
              </a:r>
              <a:endParaRPr sz="1900">
                <a:solidFill>
                  <a:srgbClr val="FFFFFF"/>
                </a:solidFill>
              </a:endParaRPr>
            </a:p>
          </p:txBody>
        </p:sp>
        <p:sp>
          <p:nvSpPr>
            <p:cNvPr id="176" name="Google Shape;176;p18"/>
            <p:cNvSpPr/>
            <p:nvPr/>
          </p:nvSpPr>
          <p:spPr>
            <a:xfrm>
              <a:off x="2465775" y="2071477"/>
              <a:ext cx="1332300" cy="285000"/>
            </a:xfrm>
            <a:prstGeom prst="round1Rect">
              <a:avLst>
                <a:gd fmla="val 50000"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Clr>
                  <a:schemeClr val="dk1"/>
                </a:buClr>
                <a:buSzPts val="1100"/>
                <a:buFont typeface="Arial"/>
                <a:buNone/>
              </a:pPr>
              <a:r>
                <a:rPr lang="en-US" sz="1100">
                  <a:solidFill>
                    <a:schemeClr val="lt1"/>
                  </a:solidFill>
                  <a:latin typeface="Roboto"/>
                  <a:ea typeface="Roboto"/>
                  <a:cs typeface="Roboto"/>
                  <a:sym typeface="Roboto"/>
                </a:rPr>
                <a:t>Stage 4</a:t>
              </a:r>
              <a:endParaRPr sz="1100">
                <a:solidFill>
                  <a:srgbClr val="FFFFFF"/>
                </a:solidFill>
              </a:endParaRPr>
            </a:p>
          </p:txBody>
        </p:sp>
      </p:grpSp>
      <p:grpSp>
        <p:nvGrpSpPr>
          <p:cNvPr id="177" name="Google Shape;177;p18"/>
          <p:cNvGrpSpPr/>
          <p:nvPr/>
        </p:nvGrpSpPr>
        <p:grpSpPr>
          <a:xfrm>
            <a:off x="5079048" y="5376541"/>
            <a:ext cx="1776356" cy="1219570"/>
            <a:chOff x="3798075" y="3373802"/>
            <a:chExt cx="1332300" cy="914700"/>
          </a:xfrm>
        </p:grpSpPr>
        <p:sp>
          <p:nvSpPr>
            <p:cNvPr id="178" name="Google Shape;178;p18"/>
            <p:cNvSpPr/>
            <p:nvPr/>
          </p:nvSpPr>
          <p:spPr>
            <a:xfrm>
              <a:off x="3798075" y="3658802"/>
              <a:ext cx="1332300" cy="629700"/>
            </a:xfrm>
            <a:prstGeom prst="rect">
              <a:avLst/>
            </a:prstGeom>
            <a:solidFill>
              <a:schemeClr val="dk2"/>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100">
                  <a:solidFill>
                    <a:srgbClr val="FFFFFF"/>
                  </a:solidFill>
                  <a:latin typeface="Roboto"/>
                  <a:ea typeface="Roboto"/>
                  <a:cs typeface="Roboto"/>
                  <a:sym typeface="Roboto"/>
                </a:rPr>
                <a:t>Report Findings with Paul Singer</a:t>
              </a:r>
              <a:endParaRPr sz="1900">
                <a:solidFill>
                  <a:srgbClr val="FFFFFF"/>
                </a:solidFill>
              </a:endParaRPr>
            </a:p>
          </p:txBody>
        </p:sp>
        <p:sp>
          <p:nvSpPr>
            <p:cNvPr id="179" name="Google Shape;179;p18"/>
            <p:cNvSpPr/>
            <p:nvPr/>
          </p:nvSpPr>
          <p:spPr>
            <a:xfrm>
              <a:off x="3798075" y="3373802"/>
              <a:ext cx="1332300" cy="285000"/>
            </a:xfrm>
            <a:prstGeom prst="round1Rect">
              <a:avLst>
                <a:gd fmla="val 50000"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Clr>
                  <a:schemeClr val="dk1"/>
                </a:buClr>
                <a:buSzPts val="1100"/>
                <a:buFont typeface="Arial"/>
                <a:buNone/>
              </a:pPr>
              <a:r>
                <a:rPr lang="en-US" sz="1100">
                  <a:solidFill>
                    <a:schemeClr val="lt1"/>
                  </a:solidFill>
                  <a:latin typeface="Roboto"/>
                  <a:ea typeface="Roboto"/>
                  <a:cs typeface="Roboto"/>
                  <a:sym typeface="Roboto"/>
                </a:rPr>
                <a:t>Stage 3</a:t>
              </a:r>
              <a:endParaRPr sz="1100">
                <a:solidFill>
                  <a:srgbClr val="FFFFFF"/>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nvSpPr>
        <p:spPr>
          <a:xfrm>
            <a:off x="2276250" y="573075"/>
            <a:ext cx="76395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Process</a:t>
            </a:r>
            <a:endParaRPr sz="7500">
              <a:solidFill>
                <a:schemeClr val="accent2"/>
              </a:solidFill>
              <a:latin typeface="Bebas Neue"/>
              <a:ea typeface="Bebas Neue"/>
              <a:cs typeface="Bebas Neue"/>
              <a:sym typeface="Bebas Neue"/>
            </a:endParaRPr>
          </a:p>
        </p:txBody>
      </p:sp>
      <p:sp>
        <p:nvSpPr>
          <p:cNvPr id="186" name="Google Shape;186;p19"/>
          <p:cNvSpPr txBox="1"/>
          <p:nvPr/>
        </p:nvSpPr>
        <p:spPr>
          <a:xfrm>
            <a:off x="966750" y="1752600"/>
            <a:ext cx="10258500" cy="2250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chemeClr val="dk1"/>
                </a:solidFill>
              </a:rPr>
              <a:t>Arrival &amp; Departure Data (2019 &amp; 2022)</a:t>
            </a:r>
            <a:endParaRPr b="1" sz="18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US" sz="1800">
                <a:solidFill>
                  <a:schemeClr val="dk1"/>
                </a:solidFill>
              </a:rPr>
              <a:t>Remove missing value (missing value percentage &lt; 1%) </a:t>
            </a:r>
            <a:endParaRPr sz="1800">
              <a:solidFill>
                <a:schemeClr val="dk1"/>
              </a:solidFill>
            </a:endParaRPr>
          </a:p>
          <a:p>
            <a:pPr indent="0" lvl="0" marL="457200" rtl="0" algn="l">
              <a:lnSpc>
                <a:spcPct val="150000"/>
              </a:lnSpc>
              <a:spcBef>
                <a:spcPts val="0"/>
              </a:spcBef>
              <a:spcAft>
                <a:spcPts val="0"/>
              </a:spcAft>
              <a:buNone/>
            </a:pPr>
            <a:r>
              <a:rPr lang="en-US" sz="1800">
                <a:solidFill>
                  <a:schemeClr val="dk1"/>
                </a:solidFill>
              </a:rPr>
              <a:t>(2019 01-03, half_trip_id: 0.002%, time_point: 0.025%, actual: 6%)</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US" sz="1800">
                <a:solidFill>
                  <a:schemeClr val="dk1"/>
                </a:solidFill>
              </a:rPr>
              <a:t>Wrong “Scheduled”, “Actual” time format (1900-01-01 H:M:S)  &gt;&gt; (2019-M-D H:M:S)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US" sz="1800">
                <a:solidFill>
                  <a:schemeClr val="dk1"/>
                </a:solidFill>
              </a:rPr>
              <a:t>The scheduled departure order of buses does not always match the actual departure order.</a:t>
            </a:r>
            <a:endParaRPr sz="1800">
              <a:solidFill>
                <a:schemeClr val="dk1"/>
              </a:solidFill>
            </a:endParaRPr>
          </a:p>
        </p:txBody>
      </p:sp>
      <p:pic>
        <p:nvPicPr>
          <p:cNvPr id="187" name="Google Shape;187;p19"/>
          <p:cNvPicPr preferRelativeResize="0"/>
          <p:nvPr/>
        </p:nvPicPr>
        <p:blipFill>
          <a:blip r:embed="rId3">
            <a:alphaModFix/>
          </a:blip>
          <a:stretch>
            <a:fillRect/>
          </a:stretch>
        </p:blipFill>
        <p:spPr>
          <a:xfrm>
            <a:off x="515650" y="4817200"/>
            <a:ext cx="11449126" cy="780275"/>
          </a:xfrm>
          <a:prstGeom prst="rect">
            <a:avLst/>
          </a:prstGeom>
          <a:noFill/>
          <a:ln>
            <a:noFill/>
          </a:ln>
          <a:effectLst>
            <a:outerShdw blurRad="57150" rotWithShape="0" algn="bl" dir="5400000" dist="19050">
              <a:srgbClr val="000000">
                <a:alpha val="50000"/>
              </a:srgbClr>
            </a:outerShdw>
          </a:effectLst>
        </p:spPr>
      </p:pic>
      <p:sp>
        <p:nvSpPr>
          <p:cNvPr id="188" name="Google Shape;188;p19"/>
          <p:cNvSpPr txBox="1"/>
          <p:nvPr/>
        </p:nvSpPr>
        <p:spPr>
          <a:xfrm>
            <a:off x="515750" y="4448025"/>
            <a:ext cx="11449200" cy="3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dk2"/>
                </a:solidFill>
                <a:latin typeface="Montserrat"/>
                <a:ea typeface="Montserrat"/>
                <a:cs typeface="Montserrat"/>
                <a:sym typeface="Montserrat"/>
              </a:rPr>
              <a:t>Trip id                      Time point id           Time point order    Scheduled Depart   Actual Depart</a:t>
            </a:r>
            <a:endParaRPr b="1" sz="1800">
              <a:solidFill>
                <a:schemeClr val="dk2"/>
              </a:solidFill>
              <a:latin typeface="Montserrat"/>
              <a:ea typeface="Montserrat"/>
              <a:cs typeface="Montserrat"/>
              <a:sym typeface="Montserrat"/>
            </a:endParaRPr>
          </a:p>
        </p:txBody>
      </p:sp>
      <p:sp>
        <p:nvSpPr>
          <p:cNvPr id="189" name="Google Shape;189;p19"/>
          <p:cNvSpPr/>
          <p:nvPr/>
        </p:nvSpPr>
        <p:spPr>
          <a:xfrm>
            <a:off x="7401075" y="4854800"/>
            <a:ext cx="2237400" cy="700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
        <p:nvSpPr>
          <p:cNvPr id="190" name="Google Shape;190;p19"/>
          <p:cNvSpPr/>
          <p:nvPr/>
        </p:nvSpPr>
        <p:spPr>
          <a:xfrm>
            <a:off x="9727550" y="4854800"/>
            <a:ext cx="2237400" cy="700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nvSpPr>
        <p:spPr>
          <a:xfrm>
            <a:off x="2276250" y="573075"/>
            <a:ext cx="76395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Process</a:t>
            </a:r>
            <a:endParaRPr sz="7500">
              <a:solidFill>
                <a:schemeClr val="accent2"/>
              </a:solidFill>
              <a:latin typeface="Bebas Neue"/>
              <a:ea typeface="Bebas Neue"/>
              <a:cs typeface="Bebas Neue"/>
              <a:sym typeface="Bebas Neue"/>
            </a:endParaRPr>
          </a:p>
        </p:txBody>
      </p:sp>
      <p:sp>
        <p:nvSpPr>
          <p:cNvPr id="197" name="Google Shape;197;p20"/>
          <p:cNvSpPr txBox="1"/>
          <p:nvPr/>
        </p:nvSpPr>
        <p:spPr>
          <a:xfrm>
            <a:off x="646200" y="1748250"/>
            <a:ext cx="10899600" cy="877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1800">
                <a:solidFill>
                  <a:schemeClr val="dk1"/>
                </a:solidFill>
              </a:rPr>
              <a:t>Add a new variable  "the next earliest departing bus at this time.":</a:t>
            </a:r>
            <a:endParaRPr sz="1800">
              <a:solidFill>
                <a:schemeClr val="dk1"/>
              </a:solidFill>
            </a:endParaRPr>
          </a:p>
          <a:p>
            <a:pPr indent="0" lvl="0" marL="457200" rtl="0" algn="l">
              <a:lnSpc>
                <a:spcPct val="150000"/>
              </a:lnSpc>
              <a:spcBef>
                <a:spcPts val="0"/>
              </a:spcBef>
              <a:spcAft>
                <a:spcPts val="0"/>
              </a:spcAft>
              <a:buNone/>
            </a:pPr>
            <a:r>
              <a:rPr lang="en-US" sz="1800">
                <a:solidFill>
                  <a:schemeClr val="dk1"/>
                </a:solidFill>
              </a:rPr>
              <a:t>for each ‘route’, ‘direction’, ‘stop_id’, search the next earliest actual departure bus</a:t>
            </a:r>
            <a:endParaRPr sz="1800">
              <a:solidFill>
                <a:schemeClr val="dk1"/>
              </a:solidFill>
            </a:endParaRPr>
          </a:p>
        </p:txBody>
      </p:sp>
      <p:pic>
        <p:nvPicPr>
          <p:cNvPr id="198" name="Google Shape;198;p20"/>
          <p:cNvPicPr preferRelativeResize="0"/>
          <p:nvPr/>
        </p:nvPicPr>
        <p:blipFill>
          <a:blip r:embed="rId3">
            <a:alphaModFix/>
          </a:blip>
          <a:stretch>
            <a:fillRect/>
          </a:stretch>
        </p:blipFill>
        <p:spPr>
          <a:xfrm>
            <a:off x="924050" y="3332450"/>
            <a:ext cx="8096250" cy="3181350"/>
          </a:xfrm>
          <a:prstGeom prst="rect">
            <a:avLst/>
          </a:prstGeom>
          <a:noFill/>
          <a:ln>
            <a:noFill/>
          </a:ln>
        </p:spPr>
      </p:pic>
      <p:sp>
        <p:nvSpPr>
          <p:cNvPr id="199" name="Google Shape;199;p20"/>
          <p:cNvSpPr txBox="1"/>
          <p:nvPr/>
        </p:nvSpPr>
        <p:spPr>
          <a:xfrm>
            <a:off x="923975" y="2906775"/>
            <a:ext cx="8096400" cy="3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dk2"/>
                </a:solidFill>
                <a:latin typeface="Montserrat"/>
                <a:ea typeface="Montserrat"/>
                <a:cs typeface="Montserrat"/>
                <a:sym typeface="Montserrat"/>
              </a:rPr>
              <a:t>Scheduled Depart    Actual Depart              Next Earliest Bus</a:t>
            </a:r>
            <a:endParaRPr b="1" sz="1800">
              <a:solidFill>
                <a:schemeClr val="dk2"/>
              </a:solidFill>
              <a:latin typeface="Montserrat"/>
              <a:ea typeface="Montserrat"/>
              <a:cs typeface="Montserrat"/>
              <a:sym typeface="Montserrat"/>
            </a:endParaRPr>
          </a:p>
        </p:txBody>
      </p:sp>
      <p:sp>
        <p:nvSpPr>
          <p:cNvPr id="200" name="Google Shape;200;p20"/>
          <p:cNvSpPr/>
          <p:nvPr/>
        </p:nvSpPr>
        <p:spPr>
          <a:xfrm>
            <a:off x="3460350" y="3797950"/>
            <a:ext cx="2483700" cy="1326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
        <p:nvSpPr>
          <p:cNvPr id="201" name="Google Shape;201;p20"/>
          <p:cNvSpPr/>
          <p:nvPr/>
        </p:nvSpPr>
        <p:spPr>
          <a:xfrm>
            <a:off x="6536600" y="3797950"/>
            <a:ext cx="2483700" cy="1326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1"/>
          <p:cNvSpPr txBox="1"/>
          <p:nvPr/>
        </p:nvSpPr>
        <p:spPr>
          <a:xfrm>
            <a:off x="2276250" y="573075"/>
            <a:ext cx="76395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Process</a:t>
            </a:r>
            <a:endParaRPr sz="7500">
              <a:solidFill>
                <a:schemeClr val="accent2"/>
              </a:solidFill>
              <a:latin typeface="Bebas Neue"/>
              <a:ea typeface="Bebas Neue"/>
              <a:cs typeface="Bebas Neue"/>
              <a:sym typeface="Bebas Neue"/>
            </a:endParaRPr>
          </a:p>
        </p:txBody>
      </p:sp>
      <p:sp>
        <p:nvSpPr>
          <p:cNvPr id="208" name="Google Shape;208;p21"/>
          <p:cNvSpPr txBox="1"/>
          <p:nvPr/>
        </p:nvSpPr>
        <p:spPr>
          <a:xfrm>
            <a:off x="966750" y="1752600"/>
            <a:ext cx="10258500" cy="225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650">
                <a:solidFill>
                  <a:schemeClr val="dk1"/>
                </a:solidFill>
                <a:highlight>
                  <a:srgbClr val="FFFFFF"/>
                </a:highlight>
              </a:rPr>
              <a:t>Bus </a:t>
            </a:r>
            <a:r>
              <a:rPr b="1" lang="en-US" sz="1800">
                <a:solidFill>
                  <a:schemeClr val="dk1"/>
                </a:solidFill>
              </a:rPr>
              <a:t>Ridership Data (2019 &amp; 2022)</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US" sz="1800">
                <a:solidFill>
                  <a:schemeClr val="dk1"/>
                </a:solidFill>
              </a:rPr>
              <a:t>Changed from average boarding and alighting to total boarding and alighting</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US" sz="1800">
                <a:solidFill>
                  <a:schemeClr val="dk1"/>
                </a:solidFill>
              </a:rPr>
              <a:t>Dropped old columns and added new boarding and alightings</a:t>
            </a:r>
            <a:endParaRPr sz="1800">
              <a:solidFill>
                <a:schemeClr val="dk1"/>
              </a:solidFill>
            </a:endParaRPr>
          </a:p>
        </p:txBody>
      </p:sp>
      <p:pic>
        <p:nvPicPr>
          <p:cNvPr id="209" name="Google Shape;209;p21"/>
          <p:cNvPicPr preferRelativeResize="0"/>
          <p:nvPr/>
        </p:nvPicPr>
        <p:blipFill>
          <a:blip r:embed="rId3">
            <a:alphaModFix/>
          </a:blip>
          <a:stretch>
            <a:fillRect/>
          </a:stretch>
        </p:blipFill>
        <p:spPr>
          <a:xfrm>
            <a:off x="1340625" y="3231900"/>
            <a:ext cx="4338575" cy="3078050"/>
          </a:xfrm>
          <a:prstGeom prst="rect">
            <a:avLst/>
          </a:prstGeom>
          <a:noFill/>
          <a:ln>
            <a:noFill/>
          </a:ln>
        </p:spPr>
      </p:pic>
      <p:sp>
        <p:nvSpPr>
          <p:cNvPr id="210" name="Google Shape;210;p21"/>
          <p:cNvSpPr/>
          <p:nvPr/>
        </p:nvSpPr>
        <p:spPr>
          <a:xfrm>
            <a:off x="2340325" y="3231900"/>
            <a:ext cx="1434000" cy="2926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
        <p:nvSpPr>
          <p:cNvPr id="211" name="Google Shape;211;p21"/>
          <p:cNvSpPr/>
          <p:nvPr/>
        </p:nvSpPr>
        <p:spPr>
          <a:xfrm>
            <a:off x="4228675" y="3231900"/>
            <a:ext cx="836100" cy="2926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pic>
        <p:nvPicPr>
          <p:cNvPr id="212" name="Google Shape;212;p21"/>
          <p:cNvPicPr preferRelativeResize="0"/>
          <p:nvPr/>
        </p:nvPicPr>
        <p:blipFill>
          <a:blip r:embed="rId4">
            <a:alphaModFix/>
          </a:blip>
          <a:stretch>
            <a:fillRect/>
          </a:stretch>
        </p:blipFill>
        <p:spPr>
          <a:xfrm>
            <a:off x="6512800" y="3242900"/>
            <a:ext cx="4338575" cy="3078050"/>
          </a:xfrm>
          <a:prstGeom prst="rect">
            <a:avLst/>
          </a:prstGeom>
          <a:noFill/>
          <a:ln>
            <a:noFill/>
          </a:ln>
        </p:spPr>
      </p:pic>
      <p:sp>
        <p:nvSpPr>
          <p:cNvPr id="213" name="Google Shape;213;p21"/>
          <p:cNvSpPr/>
          <p:nvPr/>
        </p:nvSpPr>
        <p:spPr>
          <a:xfrm>
            <a:off x="8844075" y="3274925"/>
            <a:ext cx="2007300" cy="2926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1: </a:t>
            </a:r>
            <a:endParaRPr sz="7500">
              <a:solidFill>
                <a:schemeClr val="accent2"/>
              </a:solidFill>
              <a:latin typeface="Bebas Neue"/>
              <a:ea typeface="Bebas Neue"/>
              <a:cs typeface="Bebas Neue"/>
              <a:sym typeface="Bebas Neue"/>
            </a:endParaRPr>
          </a:p>
        </p:txBody>
      </p:sp>
      <p:sp>
        <p:nvSpPr>
          <p:cNvPr id="220" name="Google Shape;220;p22"/>
          <p:cNvSpPr txBox="1"/>
          <p:nvPr/>
        </p:nvSpPr>
        <p:spPr>
          <a:xfrm>
            <a:off x="669150" y="1790700"/>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What is the ridership per bus route?</a:t>
            </a:r>
            <a:endParaRPr/>
          </a:p>
        </p:txBody>
      </p:sp>
      <p:sp>
        <p:nvSpPr>
          <p:cNvPr id="221" name="Google Shape;221;p22"/>
          <p:cNvSpPr txBox="1"/>
          <p:nvPr/>
        </p:nvSpPr>
        <p:spPr>
          <a:xfrm>
            <a:off x="7728600" y="3671325"/>
            <a:ext cx="3000000" cy="877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Char char="●"/>
            </a:pPr>
            <a:r>
              <a:rPr b="1" lang="en-US" sz="1500">
                <a:solidFill>
                  <a:schemeClr val="dk2"/>
                </a:solidFill>
                <a:latin typeface="Montserrat"/>
                <a:ea typeface="Montserrat"/>
                <a:cs typeface="Montserrat"/>
                <a:sym typeface="Montserrat"/>
              </a:rPr>
              <a:t>Ridership is sorted by descending boarding numbers</a:t>
            </a:r>
            <a:endParaRPr b="1" sz="1500">
              <a:solidFill>
                <a:schemeClr val="dk2"/>
              </a:solidFill>
              <a:latin typeface="Montserrat"/>
              <a:ea typeface="Montserrat"/>
              <a:cs typeface="Montserrat"/>
              <a:sym typeface="Montserrat"/>
            </a:endParaRPr>
          </a:p>
        </p:txBody>
      </p:sp>
      <p:pic>
        <p:nvPicPr>
          <p:cNvPr id="222" name="Google Shape;222;p22"/>
          <p:cNvPicPr preferRelativeResize="0"/>
          <p:nvPr/>
        </p:nvPicPr>
        <p:blipFill>
          <a:blip r:embed="rId3">
            <a:alphaModFix/>
          </a:blip>
          <a:stretch>
            <a:fillRect/>
          </a:stretch>
        </p:blipFill>
        <p:spPr>
          <a:xfrm>
            <a:off x="0" y="4603800"/>
            <a:ext cx="7728598" cy="2291401"/>
          </a:xfrm>
          <a:prstGeom prst="rect">
            <a:avLst/>
          </a:prstGeom>
          <a:noFill/>
          <a:ln>
            <a:noFill/>
          </a:ln>
        </p:spPr>
      </p:pic>
      <p:pic>
        <p:nvPicPr>
          <p:cNvPr id="223" name="Google Shape;223;p22"/>
          <p:cNvPicPr preferRelativeResize="0"/>
          <p:nvPr/>
        </p:nvPicPr>
        <p:blipFill>
          <a:blip r:embed="rId4">
            <a:alphaModFix/>
          </a:blip>
          <a:stretch>
            <a:fillRect/>
          </a:stretch>
        </p:blipFill>
        <p:spPr>
          <a:xfrm>
            <a:off x="0" y="2257125"/>
            <a:ext cx="7728618" cy="2291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1: </a:t>
            </a:r>
            <a:endParaRPr sz="7500">
              <a:solidFill>
                <a:schemeClr val="accent2"/>
              </a:solidFill>
              <a:latin typeface="Bebas Neue"/>
              <a:ea typeface="Bebas Neue"/>
              <a:cs typeface="Bebas Neue"/>
              <a:sym typeface="Bebas Neue"/>
            </a:endParaRPr>
          </a:p>
        </p:txBody>
      </p:sp>
      <p:sp>
        <p:nvSpPr>
          <p:cNvPr id="230" name="Google Shape;230;p23"/>
          <p:cNvSpPr txBox="1"/>
          <p:nvPr/>
        </p:nvSpPr>
        <p:spPr>
          <a:xfrm>
            <a:off x="669150" y="1790700"/>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What is the ridership per bus route?</a:t>
            </a:r>
            <a:endParaRPr/>
          </a:p>
        </p:txBody>
      </p:sp>
      <p:pic>
        <p:nvPicPr>
          <p:cNvPr id="231" name="Google Shape;231;p23"/>
          <p:cNvPicPr preferRelativeResize="0"/>
          <p:nvPr/>
        </p:nvPicPr>
        <p:blipFill>
          <a:blip r:embed="rId3">
            <a:alphaModFix/>
          </a:blip>
          <a:stretch>
            <a:fillRect/>
          </a:stretch>
        </p:blipFill>
        <p:spPr>
          <a:xfrm>
            <a:off x="2212324" y="2277553"/>
            <a:ext cx="7767348" cy="2302885"/>
          </a:xfrm>
          <a:prstGeom prst="rect">
            <a:avLst/>
          </a:prstGeom>
          <a:noFill/>
          <a:ln>
            <a:noFill/>
          </a:ln>
        </p:spPr>
      </p:pic>
      <p:pic>
        <p:nvPicPr>
          <p:cNvPr id="232" name="Google Shape;232;p23"/>
          <p:cNvPicPr preferRelativeResize="0"/>
          <p:nvPr/>
        </p:nvPicPr>
        <p:blipFill>
          <a:blip r:embed="rId4">
            <a:alphaModFix/>
          </a:blip>
          <a:stretch>
            <a:fillRect/>
          </a:stretch>
        </p:blipFill>
        <p:spPr>
          <a:xfrm>
            <a:off x="2212325" y="4580450"/>
            <a:ext cx="7767328" cy="2302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1: </a:t>
            </a:r>
            <a:endParaRPr sz="7500">
              <a:solidFill>
                <a:schemeClr val="accent2"/>
              </a:solidFill>
              <a:latin typeface="Bebas Neue"/>
              <a:ea typeface="Bebas Neue"/>
              <a:cs typeface="Bebas Neue"/>
              <a:sym typeface="Bebas Neue"/>
            </a:endParaRPr>
          </a:p>
        </p:txBody>
      </p:sp>
      <p:sp>
        <p:nvSpPr>
          <p:cNvPr id="239" name="Google Shape;239;p24"/>
          <p:cNvSpPr txBox="1"/>
          <p:nvPr/>
        </p:nvSpPr>
        <p:spPr>
          <a:xfrm>
            <a:off x="669150" y="1790700"/>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What is the ridership per bus route?</a:t>
            </a:r>
            <a:endParaRPr/>
          </a:p>
        </p:txBody>
      </p:sp>
      <p:pic>
        <p:nvPicPr>
          <p:cNvPr id="240" name="Google Shape;240;p24"/>
          <p:cNvPicPr preferRelativeResize="0"/>
          <p:nvPr/>
        </p:nvPicPr>
        <p:blipFill>
          <a:blip r:embed="rId3">
            <a:alphaModFix/>
          </a:blip>
          <a:stretch>
            <a:fillRect/>
          </a:stretch>
        </p:blipFill>
        <p:spPr>
          <a:xfrm>
            <a:off x="2202338" y="4583400"/>
            <a:ext cx="7787323" cy="2308800"/>
          </a:xfrm>
          <a:prstGeom prst="rect">
            <a:avLst/>
          </a:prstGeom>
          <a:noFill/>
          <a:ln>
            <a:noFill/>
          </a:ln>
        </p:spPr>
      </p:pic>
      <p:pic>
        <p:nvPicPr>
          <p:cNvPr id="241" name="Google Shape;241;p24"/>
          <p:cNvPicPr preferRelativeResize="0"/>
          <p:nvPr/>
        </p:nvPicPr>
        <p:blipFill>
          <a:blip r:embed="rId4">
            <a:alphaModFix/>
          </a:blip>
          <a:stretch>
            <a:fillRect/>
          </a:stretch>
        </p:blipFill>
        <p:spPr>
          <a:xfrm>
            <a:off x="2202350" y="2274600"/>
            <a:ext cx="7787308" cy="2308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1: </a:t>
            </a:r>
            <a:endParaRPr sz="7500">
              <a:solidFill>
                <a:schemeClr val="accent2"/>
              </a:solidFill>
              <a:latin typeface="Bebas Neue"/>
              <a:ea typeface="Bebas Neue"/>
              <a:cs typeface="Bebas Neue"/>
              <a:sym typeface="Bebas Neue"/>
            </a:endParaRPr>
          </a:p>
        </p:txBody>
      </p:sp>
      <p:sp>
        <p:nvSpPr>
          <p:cNvPr id="248" name="Google Shape;248;p25"/>
          <p:cNvSpPr txBox="1"/>
          <p:nvPr/>
        </p:nvSpPr>
        <p:spPr>
          <a:xfrm>
            <a:off x="669150" y="1790700"/>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What is the ridership per bus route?</a:t>
            </a:r>
            <a:endParaRPr/>
          </a:p>
        </p:txBody>
      </p:sp>
      <p:pic>
        <p:nvPicPr>
          <p:cNvPr id="249" name="Google Shape;249;p25"/>
          <p:cNvPicPr preferRelativeResize="0"/>
          <p:nvPr/>
        </p:nvPicPr>
        <p:blipFill>
          <a:blip r:embed="rId3">
            <a:alphaModFix/>
          </a:blip>
          <a:stretch>
            <a:fillRect/>
          </a:stretch>
        </p:blipFill>
        <p:spPr>
          <a:xfrm>
            <a:off x="2199350" y="4547400"/>
            <a:ext cx="7793298" cy="2310599"/>
          </a:xfrm>
          <a:prstGeom prst="rect">
            <a:avLst/>
          </a:prstGeom>
          <a:noFill/>
          <a:ln>
            <a:noFill/>
          </a:ln>
        </p:spPr>
      </p:pic>
      <p:pic>
        <p:nvPicPr>
          <p:cNvPr id="250" name="Google Shape;250;p25"/>
          <p:cNvPicPr preferRelativeResize="0"/>
          <p:nvPr/>
        </p:nvPicPr>
        <p:blipFill>
          <a:blip r:embed="rId4">
            <a:alphaModFix/>
          </a:blip>
          <a:stretch>
            <a:fillRect/>
          </a:stretch>
        </p:blipFill>
        <p:spPr>
          <a:xfrm>
            <a:off x="2199325" y="2236800"/>
            <a:ext cx="7793362" cy="23105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2: </a:t>
            </a:r>
            <a:endParaRPr sz="7500">
              <a:solidFill>
                <a:schemeClr val="accent2"/>
              </a:solidFill>
              <a:latin typeface="Bebas Neue"/>
              <a:ea typeface="Bebas Neue"/>
              <a:cs typeface="Bebas Neue"/>
              <a:sym typeface="Bebas Neue"/>
            </a:endParaRPr>
          </a:p>
        </p:txBody>
      </p:sp>
      <p:sp>
        <p:nvSpPr>
          <p:cNvPr id="257" name="Google Shape;257;p26"/>
          <p:cNvSpPr txBox="1"/>
          <p:nvPr/>
        </p:nvSpPr>
        <p:spPr>
          <a:xfrm>
            <a:off x="669150" y="1798725"/>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What are the end-to-end travel times for each bus route in the city?</a:t>
            </a:r>
            <a:endParaRPr/>
          </a:p>
        </p:txBody>
      </p:sp>
      <p:pic>
        <p:nvPicPr>
          <p:cNvPr id="258" name="Google Shape;258;p26"/>
          <p:cNvPicPr preferRelativeResize="0"/>
          <p:nvPr/>
        </p:nvPicPr>
        <p:blipFill>
          <a:blip r:embed="rId3">
            <a:alphaModFix/>
          </a:blip>
          <a:stretch>
            <a:fillRect/>
          </a:stretch>
        </p:blipFill>
        <p:spPr>
          <a:xfrm>
            <a:off x="669150" y="2404875"/>
            <a:ext cx="7471446" cy="4148325"/>
          </a:xfrm>
          <a:prstGeom prst="rect">
            <a:avLst/>
          </a:prstGeom>
          <a:noFill/>
          <a:ln>
            <a:noFill/>
          </a:ln>
        </p:spPr>
      </p:pic>
      <p:sp>
        <p:nvSpPr>
          <p:cNvPr id="259" name="Google Shape;259;p26"/>
          <p:cNvSpPr txBox="1"/>
          <p:nvPr/>
        </p:nvSpPr>
        <p:spPr>
          <a:xfrm>
            <a:off x="8081800" y="3578575"/>
            <a:ext cx="4051500" cy="18009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b="1" lang="en-US" sz="1500">
                <a:solidFill>
                  <a:schemeClr val="dk2"/>
                </a:solidFill>
                <a:latin typeface="Montserrat"/>
                <a:ea typeface="Montserrat"/>
                <a:cs typeface="Montserrat"/>
                <a:sym typeface="Montserrat"/>
              </a:rPr>
              <a:t>End-to-end travel time represents from starting point to finish point in one direction.</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A</a:t>
            </a:r>
            <a:r>
              <a:rPr b="1" lang="en-US" sz="1500">
                <a:solidFill>
                  <a:schemeClr val="dk2"/>
                </a:solidFill>
                <a:latin typeface="Montserrat"/>
                <a:ea typeface="Montserrat"/>
                <a:cs typeface="Montserrat"/>
                <a:sym typeface="Montserrat"/>
              </a:rPr>
              <a:t>verage year-round scheduled and actual travel times</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7"/>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2: </a:t>
            </a:r>
            <a:endParaRPr sz="7500">
              <a:solidFill>
                <a:schemeClr val="accent2"/>
              </a:solidFill>
              <a:latin typeface="Bebas Neue"/>
              <a:ea typeface="Bebas Neue"/>
              <a:cs typeface="Bebas Neue"/>
              <a:sym typeface="Bebas Neue"/>
            </a:endParaRPr>
          </a:p>
        </p:txBody>
      </p:sp>
      <p:sp>
        <p:nvSpPr>
          <p:cNvPr id="266" name="Google Shape;266;p27"/>
          <p:cNvSpPr txBox="1"/>
          <p:nvPr/>
        </p:nvSpPr>
        <p:spPr>
          <a:xfrm>
            <a:off x="669150" y="1798725"/>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What are the end-to-end travel times for each bus route in the city?</a:t>
            </a:r>
            <a:endParaRPr/>
          </a:p>
        </p:txBody>
      </p:sp>
      <p:pic>
        <p:nvPicPr>
          <p:cNvPr id="267" name="Google Shape;267;p27"/>
          <p:cNvPicPr preferRelativeResize="0"/>
          <p:nvPr/>
        </p:nvPicPr>
        <p:blipFill>
          <a:blip r:embed="rId3">
            <a:alphaModFix/>
          </a:blip>
          <a:stretch>
            <a:fillRect/>
          </a:stretch>
        </p:blipFill>
        <p:spPr>
          <a:xfrm>
            <a:off x="669150" y="2404875"/>
            <a:ext cx="7471446" cy="4148325"/>
          </a:xfrm>
          <a:prstGeom prst="rect">
            <a:avLst/>
          </a:prstGeom>
          <a:noFill/>
          <a:ln>
            <a:noFill/>
          </a:ln>
        </p:spPr>
      </p:pic>
      <p:sp>
        <p:nvSpPr>
          <p:cNvPr id="268" name="Google Shape;268;p27"/>
          <p:cNvSpPr txBox="1"/>
          <p:nvPr/>
        </p:nvSpPr>
        <p:spPr>
          <a:xfrm>
            <a:off x="8058200" y="3001375"/>
            <a:ext cx="4051500" cy="29553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b="1" lang="en-US" sz="1500">
                <a:solidFill>
                  <a:schemeClr val="dk2"/>
                </a:solidFill>
                <a:latin typeface="Montserrat"/>
                <a:ea typeface="Montserrat"/>
                <a:cs typeface="Montserrat"/>
                <a:sym typeface="Montserrat"/>
              </a:rPr>
              <a:t>Overall, bus travel time has decreased compared to 2019</a:t>
            </a:r>
            <a:endParaRPr b="1" sz="1500">
              <a:solidFill>
                <a:schemeClr val="dk2"/>
              </a:solidFill>
              <a:latin typeface="Montserrat"/>
              <a:ea typeface="Montserrat"/>
              <a:cs typeface="Montserrat"/>
              <a:sym typeface="Montserrat"/>
            </a:endParaRPr>
          </a:p>
          <a:p>
            <a:pPr indent="-323850" lvl="1" marL="9144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Bus Route 23 and 28</a:t>
            </a:r>
            <a:endParaRPr b="1" sz="1500">
              <a:solidFill>
                <a:schemeClr val="dk2"/>
              </a:solidFill>
              <a:latin typeface="Montserrat"/>
              <a:ea typeface="Montserrat"/>
              <a:cs typeface="Montserrat"/>
              <a:sym typeface="Montserrat"/>
            </a:endParaRPr>
          </a:p>
          <a:p>
            <a:pPr indent="-323850" lvl="2" marL="13716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 3 minute decrease</a:t>
            </a:r>
            <a:endParaRPr b="1" sz="1500">
              <a:solidFill>
                <a:schemeClr val="dk2"/>
              </a:solidFill>
              <a:latin typeface="Montserrat"/>
              <a:ea typeface="Montserrat"/>
              <a:cs typeface="Montserrat"/>
              <a:sym typeface="Montserrat"/>
            </a:endParaRPr>
          </a:p>
          <a:p>
            <a:pPr indent="0" lvl="0" marL="1371600" rtl="0" algn="l">
              <a:spcBef>
                <a:spcPts val="0"/>
              </a:spcBef>
              <a:spcAft>
                <a:spcPts val="0"/>
              </a:spcAft>
              <a:buNone/>
            </a:pPr>
            <a:r>
              <a:t/>
            </a:r>
            <a:endParaRPr b="1"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Only two buses has seen an increase in average travel time</a:t>
            </a:r>
            <a:endParaRPr b="1" sz="1500">
              <a:solidFill>
                <a:schemeClr val="dk2"/>
              </a:solidFill>
              <a:latin typeface="Montserrat"/>
              <a:ea typeface="Montserrat"/>
              <a:cs typeface="Montserrat"/>
              <a:sym typeface="Montserrat"/>
            </a:endParaRPr>
          </a:p>
          <a:p>
            <a:pPr indent="-323850" lvl="1" marL="9144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Bus Route 111</a:t>
            </a:r>
            <a:r>
              <a:rPr b="1" lang="en-US" sz="1500">
                <a:solidFill>
                  <a:schemeClr val="dk2"/>
                </a:solidFill>
                <a:latin typeface="Montserrat"/>
                <a:ea typeface="Montserrat"/>
                <a:cs typeface="Montserrat"/>
                <a:sym typeface="Montserrat"/>
              </a:rPr>
              <a:t>         </a:t>
            </a:r>
            <a:endParaRPr b="1" sz="1500">
              <a:solidFill>
                <a:schemeClr val="dk2"/>
              </a:solidFill>
              <a:latin typeface="Montserrat"/>
              <a:ea typeface="Montserrat"/>
              <a:cs typeface="Montserrat"/>
              <a:sym typeface="Montserrat"/>
            </a:endParaRPr>
          </a:p>
          <a:p>
            <a:pPr indent="-323850" lvl="2" marL="13716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 3 minute increase</a:t>
            </a:r>
            <a:endParaRPr b="1" sz="1500">
              <a:solidFill>
                <a:schemeClr val="dk2"/>
              </a:solidFill>
              <a:latin typeface="Montserrat"/>
              <a:ea typeface="Montserrat"/>
              <a:cs typeface="Montserrat"/>
              <a:sym typeface="Montserrat"/>
            </a:endParaRPr>
          </a:p>
          <a:p>
            <a:pPr indent="-323850" lvl="1" marL="9144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Bus Route 24</a:t>
            </a:r>
            <a:endParaRPr b="1" sz="1500">
              <a:solidFill>
                <a:schemeClr val="dk2"/>
              </a:solidFill>
              <a:latin typeface="Montserrat"/>
              <a:ea typeface="Montserrat"/>
              <a:cs typeface="Montserrat"/>
              <a:sym typeface="Montserrat"/>
            </a:endParaRPr>
          </a:p>
          <a:p>
            <a:pPr indent="-323850" lvl="2" marL="13716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 7 minute increase</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28"/>
          <p:cNvPicPr preferRelativeResize="0"/>
          <p:nvPr/>
        </p:nvPicPr>
        <p:blipFill>
          <a:blip r:embed="rId3">
            <a:alphaModFix/>
          </a:blip>
          <a:stretch>
            <a:fillRect/>
          </a:stretch>
        </p:blipFill>
        <p:spPr>
          <a:xfrm>
            <a:off x="152400" y="2557275"/>
            <a:ext cx="7649671" cy="4148325"/>
          </a:xfrm>
          <a:prstGeom prst="rect">
            <a:avLst/>
          </a:prstGeom>
          <a:noFill/>
          <a:ln>
            <a:noFill/>
          </a:ln>
        </p:spPr>
      </p:pic>
      <p:pic>
        <p:nvPicPr>
          <p:cNvPr id="275" name="Google Shape;275;p28"/>
          <p:cNvPicPr preferRelativeResize="0"/>
          <p:nvPr/>
        </p:nvPicPr>
        <p:blipFill>
          <a:blip r:embed="rId4">
            <a:alphaModFix/>
          </a:blip>
          <a:stretch>
            <a:fillRect/>
          </a:stretch>
        </p:blipFill>
        <p:spPr>
          <a:xfrm>
            <a:off x="152400" y="2557275"/>
            <a:ext cx="7649663" cy="4148325"/>
          </a:xfrm>
          <a:prstGeom prst="rect">
            <a:avLst/>
          </a:prstGeom>
          <a:noFill/>
          <a:ln>
            <a:noFill/>
          </a:ln>
        </p:spPr>
      </p:pic>
      <p:sp>
        <p:nvSpPr>
          <p:cNvPr id="276" name="Google Shape;276;p28"/>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2.1: </a:t>
            </a:r>
            <a:endParaRPr sz="7500">
              <a:solidFill>
                <a:schemeClr val="accent2"/>
              </a:solidFill>
              <a:latin typeface="Bebas Neue"/>
              <a:ea typeface="Bebas Neue"/>
              <a:cs typeface="Bebas Neue"/>
              <a:sym typeface="Bebas Neue"/>
            </a:endParaRPr>
          </a:p>
        </p:txBody>
      </p:sp>
      <p:sp>
        <p:nvSpPr>
          <p:cNvPr id="277" name="Google Shape;277;p28"/>
          <p:cNvSpPr txBox="1"/>
          <p:nvPr/>
        </p:nvSpPr>
        <p:spPr>
          <a:xfrm>
            <a:off x="669150" y="1809525"/>
            <a:ext cx="10853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On average, how long does an individual have to wait for a bus (on time vs. delayed)?</a:t>
            </a:r>
            <a:endParaRPr/>
          </a:p>
        </p:txBody>
      </p:sp>
      <p:sp>
        <p:nvSpPr>
          <p:cNvPr id="278" name="Google Shape;278;p28"/>
          <p:cNvSpPr txBox="1"/>
          <p:nvPr/>
        </p:nvSpPr>
        <p:spPr>
          <a:xfrm>
            <a:off x="7802075" y="3028800"/>
            <a:ext cx="4272900" cy="31863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b="1" lang="en-US" sz="1500">
                <a:solidFill>
                  <a:schemeClr val="dk2"/>
                </a:solidFill>
                <a:latin typeface="Montserrat"/>
                <a:ea typeface="Montserrat"/>
                <a:cs typeface="Montserrat"/>
                <a:sym typeface="Montserrat"/>
              </a:rPr>
              <a:t>Buses arrived within 1 minutes are considered “on time”</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Rest buses are categorized as delayed</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Waiting time is 29 seconds on average for “on time” buses</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Waiting time is 437 seconds on average for delayed buses</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9"/>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2.2: </a:t>
            </a:r>
            <a:endParaRPr sz="7500">
              <a:solidFill>
                <a:schemeClr val="accent2"/>
              </a:solidFill>
              <a:latin typeface="Bebas Neue"/>
              <a:ea typeface="Bebas Neue"/>
              <a:cs typeface="Bebas Neue"/>
              <a:sym typeface="Bebas Neue"/>
            </a:endParaRPr>
          </a:p>
        </p:txBody>
      </p:sp>
      <p:sp>
        <p:nvSpPr>
          <p:cNvPr id="285" name="Google Shape;285;p29"/>
          <p:cNvSpPr txBox="1"/>
          <p:nvPr/>
        </p:nvSpPr>
        <p:spPr>
          <a:xfrm>
            <a:off x="669150" y="1912275"/>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What is the average delay time of the target bus routes?</a:t>
            </a:r>
            <a:endParaRPr/>
          </a:p>
        </p:txBody>
      </p:sp>
      <p:sp>
        <p:nvSpPr>
          <p:cNvPr id="286" name="Google Shape;286;p29"/>
          <p:cNvSpPr txBox="1"/>
          <p:nvPr/>
        </p:nvSpPr>
        <p:spPr>
          <a:xfrm>
            <a:off x="9192000" y="3646625"/>
            <a:ext cx="30000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Something is special with Route 14…</a:t>
            </a:r>
            <a:endParaRPr b="1" sz="2000">
              <a:solidFill>
                <a:schemeClr val="dk2"/>
              </a:solidFill>
              <a:latin typeface="Montserrat"/>
              <a:ea typeface="Montserrat"/>
              <a:cs typeface="Montserrat"/>
              <a:sym typeface="Montserrat"/>
            </a:endParaRPr>
          </a:p>
        </p:txBody>
      </p:sp>
      <p:pic>
        <p:nvPicPr>
          <p:cNvPr id="287" name="Google Shape;287;p29"/>
          <p:cNvPicPr preferRelativeResize="0"/>
          <p:nvPr/>
        </p:nvPicPr>
        <p:blipFill>
          <a:blip r:embed="rId3">
            <a:alphaModFix/>
          </a:blip>
          <a:stretch>
            <a:fillRect/>
          </a:stretch>
        </p:blipFill>
        <p:spPr>
          <a:xfrm>
            <a:off x="152400" y="2404875"/>
            <a:ext cx="9039599" cy="43007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0"/>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2.2 extended: </a:t>
            </a:r>
            <a:endParaRPr sz="7500">
              <a:solidFill>
                <a:schemeClr val="accent2"/>
              </a:solidFill>
              <a:latin typeface="Bebas Neue"/>
              <a:ea typeface="Bebas Neue"/>
              <a:cs typeface="Bebas Neue"/>
              <a:sym typeface="Bebas Neue"/>
            </a:endParaRPr>
          </a:p>
        </p:txBody>
      </p:sp>
      <p:sp>
        <p:nvSpPr>
          <p:cNvPr id="294" name="Google Shape;294;p30"/>
          <p:cNvSpPr txBox="1"/>
          <p:nvPr/>
        </p:nvSpPr>
        <p:spPr>
          <a:xfrm>
            <a:off x="669150" y="1912275"/>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What is the average delay time of the target bus routes?</a:t>
            </a:r>
            <a:endParaRPr/>
          </a:p>
        </p:txBody>
      </p:sp>
      <p:sp>
        <p:nvSpPr>
          <p:cNvPr id="295" name="Google Shape;295;p30"/>
          <p:cNvSpPr txBox="1"/>
          <p:nvPr/>
        </p:nvSpPr>
        <p:spPr>
          <a:xfrm>
            <a:off x="9325225" y="3077588"/>
            <a:ext cx="2870100" cy="29553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Sort in </a:t>
            </a:r>
            <a:r>
              <a:rPr b="1" lang="en-US" sz="1500">
                <a:solidFill>
                  <a:schemeClr val="dk2"/>
                </a:solidFill>
                <a:latin typeface="Montserrat"/>
                <a:ea typeface="Montserrat"/>
                <a:cs typeface="Montserrat"/>
                <a:sym typeface="Montserrat"/>
              </a:rPr>
              <a:t>descending</a:t>
            </a:r>
            <a:r>
              <a:rPr b="1" lang="en-US" sz="1500">
                <a:solidFill>
                  <a:schemeClr val="dk2"/>
                </a:solidFill>
                <a:latin typeface="Montserrat"/>
                <a:ea typeface="Montserrat"/>
                <a:cs typeface="Montserrat"/>
                <a:sym typeface="Montserrat"/>
              </a:rPr>
              <a:t> order by 2019 bus count for each route</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The Route 14 has only few counts compared to other</a:t>
            </a:r>
            <a:endParaRPr b="1" sz="15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b="1" lang="en-US" sz="1500">
                <a:solidFill>
                  <a:schemeClr val="dk2"/>
                </a:solidFill>
                <a:latin typeface="Montserrat"/>
                <a:ea typeface="Montserrat"/>
                <a:cs typeface="Montserrat"/>
                <a:sym typeface="Montserrat"/>
              </a:rPr>
              <a:t>This is a signal suggesting that </a:t>
            </a:r>
            <a:r>
              <a:rPr b="1" lang="en-US" sz="1500">
                <a:solidFill>
                  <a:schemeClr val="dk2"/>
                </a:solidFill>
                <a:latin typeface="Montserrat"/>
                <a:ea typeface="Montserrat"/>
                <a:cs typeface="Montserrat"/>
                <a:sym typeface="Montserrat"/>
              </a:rPr>
              <a:t>the</a:t>
            </a:r>
            <a:r>
              <a:rPr b="1" lang="en-US" sz="1500">
                <a:solidFill>
                  <a:schemeClr val="dk2"/>
                </a:solidFill>
                <a:latin typeface="Montserrat"/>
                <a:ea typeface="Montserrat"/>
                <a:cs typeface="Montserrat"/>
                <a:sym typeface="Montserrat"/>
              </a:rPr>
              <a:t> wait time can be affected by outliers</a:t>
            </a:r>
            <a:endParaRPr b="1" sz="1500">
              <a:solidFill>
                <a:schemeClr val="dk2"/>
              </a:solidFill>
              <a:latin typeface="Montserrat"/>
              <a:ea typeface="Montserrat"/>
              <a:cs typeface="Montserrat"/>
              <a:sym typeface="Montserrat"/>
            </a:endParaRPr>
          </a:p>
        </p:txBody>
      </p:sp>
      <p:pic>
        <p:nvPicPr>
          <p:cNvPr id="296" name="Google Shape;296;p30"/>
          <p:cNvPicPr preferRelativeResize="0"/>
          <p:nvPr/>
        </p:nvPicPr>
        <p:blipFill>
          <a:blip r:embed="rId3">
            <a:alphaModFix/>
          </a:blip>
          <a:stretch>
            <a:fillRect/>
          </a:stretch>
        </p:blipFill>
        <p:spPr>
          <a:xfrm>
            <a:off x="152400" y="2404875"/>
            <a:ext cx="9172824" cy="43007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1"/>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2.2 extended: </a:t>
            </a:r>
            <a:endParaRPr sz="7500">
              <a:solidFill>
                <a:schemeClr val="accent2"/>
              </a:solidFill>
              <a:latin typeface="Bebas Neue"/>
              <a:ea typeface="Bebas Neue"/>
              <a:cs typeface="Bebas Neue"/>
              <a:sym typeface="Bebas Neue"/>
            </a:endParaRPr>
          </a:p>
        </p:txBody>
      </p:sp>
      <p:sp>
        <p:nvSpPr>
          <p:cNvPr id="303" name="Google Shape;303;p31"/>
          <p:cNvSpPr txBox="1"/>
          <p:nvPr/>
        </p:nvSpPr>
        <p:spPr>
          <a:xfrm>
            <a:off x="669150" y="1912275"/>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What is the average delay time of the target bus routes?</a:t>
            </a:r>
            <a:endParaRPr/>
          </a:p>
        </p:txBody>
      </p:sp>
      <p:sp>
        <p:nvSpPr>
          <p:cNvPr id="304" name="Google Shape;304;p31"/>
          <p:cNvSpPr txBox="1"/>
          <p:nvPr/>
        </p:nvSpPr>
        <p:spPr>
          <a:xfrm>
            <a:off x="5432775" y="2588300"/>
            <a:ext cx="6547500" cy="11082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2"/>
              </a:buClr>
              <a:buSzPts val="2000"/>
              <a:buFont typeface="Montserrat"/>
              <a:buChar char="●"/>
            </a:pPr>
            <a:r>
              <a:rPr b="1" lang="en-US" sz="2000">
                <a:solidFill>
                  <a:schemeClr val="dk2"/>
                </a:solidFill>
                <a:latin typeface="Montserrat"/>
                <a:ea typeface="Montserrat"/>
                <a:cs typeface="Montserrat"/>
                <a:sym typeface="Montserrat"/>
              </a:rPr>
              <a:t>If a rider miss the </a:t>
            </a:r>
            <a:r>
              <a:rPr b="1" lang="en-US" sz="2000">
                <a:solidFill>
                  <a:schemeClr val="dk2"/>
                </a:solidFill>
                <a:latin typeface="Montserrat"/>
                <a:ea typeface="Montserrat"/>
                <a:cs typeface="Montserrat"/>
                <a:sym typeface="Montserrat"/>
              </a:rPr>
              <a:t>bus at 1</a:t>
            </a:r>
            <a:r>
              <a:rPr b="1" lang="en-US" sz="2000">
                <a:solidFill>
                  <a:schemeClr val="dk2"/>
                </a:solidFill>
                <a:latin typeface="Montserrat"/>
                <a:ea typeface="Montserrat"/>
                <a:cs typeface="Montserrat"/>
                <a:sym typeface="Montserrat"/>
              </a:rPr>
              <a:t>:31 PM because the bus leave earlier, the rider will have to take the bus depart at 3:21 PM </a:t>
            </a:r>
            <a:endParaRPr b="1" sz="2000">
              <a:solidFill>
                <a:schemeClr val="dk2"/>
              </a:solidFill>
              <a:latin typeface="Montserrat"/>
              <a:ea typeface="Montserrat"/>
              <a:cs typeface="Montserrat"/>
              <a:sym typeface="Montserrat"/>
            </a:endParaRPr>
          </a:p>
        </p:txBody>
      </p:sp>
      <p:pic>
        <p:nvPicPr>
          <p:cNvPr id="305" name="Google Shape;305;p31"/>
          <p:cNvPicPr preferRelativeResize="0"/>
          <p:nvPr/>
        </p:nvPicPr>
        <p:blipFill>
          <a:blip r:embed="rId3">
            <a:alphaModFix/>
          </a:blip>
          <a:stretch>
            <a:fillRect/>
          </a:stretch>
        </p:blipFill>
        <p:spPr>
          <a:xfrm>
            <a:off x="8181675" y="4048775"/>
            <a:ext cx="2343150" cy="1514475"/>
          </a:xfrm>
          <a:prstGeom prst="rect">
            <a:avLst/>
          </a:prstGeom>
          <a:noFill/>
          <a:ln>
            <a:noFill/>
          </a:ln>
        </p:spPr>
      </p:pic>
      <p:pic>
        <p:nvPicPr>
          <p:cNvPr id="306" name="Google Shape;306;p31"/>
          <p:cNvPicPr preferRelativeResize="0"/>
          <p:nvPr/>
        </p:nvPicPr>
        <p:blipFill>
          <a:blip r:embed="rId4">
            <a:alphaModFix/>
          </a:blip>
          <a:stretch>
            <a:fillRect/>
          </a:stretch>
        </p:blipFill>
        <p:spPr>
          <a:xfrm>
            <a:off x="509163" y="4048763"/>
            <a:ext cx="5400675" cy="1514475"/>
          </a:xfrm>
          <a:prstGeom prst="rect">
            <a:avLst/>
          </a:prstGeom>
          <a:noFill/>
          <a:ln>
            <a:noFill/>
          </a:ln>
        </p:spPr>
      </p:pic>
      <p:sp>
        <p:nvSpPr>
          <p:cNvPr id="307" name="Google Shape;307;p31"/>
          <p:cNvSpPr txBox="1"/>
          <p:nvPr/>
        </p:nvSpPr>
        <p:spPr>
          <a:xfrm>
            <a:off x="1104875" y="2742200"/>
            <a:ext cx="3000000" cy="8004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2"/>
              </a:buClr>
              <a:buSzPts val="2000"/>
              <a:buFont typeface="Montserrat"/>
              <a:buChar char="●"/>
            </a:pPr>
            <a:r>
              <a:rPr b="1" lang="en-US" sz="2000">
                <a:solidFill>
                  <a:schemeClr val="dk2"/>
                </a:solidFill>
                <a:latin typeface="Montserrat"/>
                <a:ea typeface="Montserrat"/>
                <a:cs typeface="Montserrat"/>
                <a:sym typeface="Montserrat"/>
              </a:rPr>
              <a:t>We list some outliers</a:t>
            </a:r>
            <a:endParaRPr/>
          </a:p>
        </p:txBody>
      </p:sp>
      <p:cxnSp>
        <p:nvCxnSpPr>
          <p:cNvPr id="308" name="Google Shape;308;p31"/>
          <p:cNvCxnSpPr/>
          <p:nvPr/>
        </p:nvCxnSpPr>
        <p:spPr>
          <a:xfrm>
            <a:off x="5863675" y="4356800"/>
            <a:ext cx="2277900" cy="9852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grpSp>
        <p:nvGrpSpPr>
          <p:cNvPr id="314" name="Google Shape;314;p32"/>
          <p:cNvGrpSpPr/>
          <p:nvPr/>
        </p:nvGrpSpPr>
        <p:grpSpPr>
          <a:xfrm>
            <a:off x="6018154" y="3175246"/>
            <a:ext cx="3155746" cy="1616340"/>
            <a:chOff x="4526679" y="2374368"/>
            <a:chExt cx="2366868" cy="1212286"/>
          </a:xfrm>
        </p:grpSpPr>
        <p:sp>
          <p:nvSpPr>
            <p:cNvPr id="315" name="Google Shape;315;p32"/>
            <p:cNvSpPr/>
            <p:nvPr/>
          </p:nvSpPr>
          <p:spPr>
            <a:xfrm>
              <a:off x="4849302" y="3079475"/>
              <a:ext cx="1958400" cy="133500"/>
            </a:xfrm>
            <a:prstGeom prst="rect">
              <a:avLst/>
            </a:prstGeom>
            <a:solidFill>
              <a:srgbClr val="0E945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16" name="Google Shape;316;p32"/>
            <p:cNvGrpSpPr/>
            <p:nvPr/>
          </p:nvGrpSpPr>
          <p:grpSpPr>
            <a:xfrm>
              <a:off x="4526679" y="2374368"/>
              <a:ext cx="2366868" cy="1212286"/>
              <a:chOff x="4526679" y="2374368"/>
              <a:chExt cx="2366868" cy="1212286"/>
            </a:xfrm>
          </p:grpSpPr>
          <p:grpSp>
            <p:nvGrpSpPr>
              <p:cNvPr id="317" name="Google Shape;317;p32"/>
              <p:cNvGrpSpPr/>
              <p:nvPr/>
            </p:nvGrpSpPr>
            <p:grpSpPr>
              <a:xfrm>
                <a:off x="4808316" y="2800065"/>
                <a:ext cx="92400" cy="411825"/>
                <a:chOff x="845575" y="2563700"/>
                <a:chExt cx="92400" cy="411825"/>
              </a:xfrm>
            </p:grpSpPr>
            <p:cxnSp>
              <p:nvCxnSpPr>
                <p:cNvPr id="318" name="Google Shape;318;p32"/>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319" name="Google Shape;319;p32"/>
                <p:cNvSpPr/>
                <p:nvPr/>
              </p:nvSpPr>
              <p:spPr>
                <a:xfrm>
                  <a:off x="845575" y="2563700"/>
                  <a:ext cx="92400" cy="92400"/>
                </a:xfrm>
                <a:prstGeom prst="ellipse">
                  <a:avLst/>
                </a:prstGeom>
                <a:solidFill>
                  <a:srgbClr val="0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20" name="Google Shape;320;p32"/>
              <p:cNvSpPr txBox="1"/>
              <p:nvPr/>
            </p:nvSpPr>
            <p:spPr>
              <a:xfrm>
                <a:off x="4526679" y="3215253"/>
                <a:ext cx="692700" cy="3714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2100"/>
                  </a:spcAft>
                  <a:buNone/>
                </a:pPr>
                <a:r>
                  <a:rPr b="1" lang="en-US" sz="1600">
                    <a:latin typeface="Roboto"/>
                    <a:ea typeface="Roboto"/>
                    <a:cs typeface="Roboto"/>
                    <a:sym typeface="Roboto"/>
                  </a:rPr>
                  <a:t>15:21</a:t>
                </a:r>
                <a:endParaRPr b="1" sz="1600">
                  <a:latin typeface="Roboto"/>
                  <a:ea typeface="Roboto"/>
                  <a:cs typeface="Roboto"/>
                  <a:sym typeface="Roboto"/>
                </a:endParaRPr>
              </a:p>
            </p:txBody>
          </p:sp>
          <p:sp>
            <p:nvSpPr>
              <p:cNvPr id="321" name="Google Shape;321;p32"/>
              <p:cNvSpPr txBox="1"/>
              <p:nvPr/>
            </p:nvSpPr>
            <p:spPr>
              <a:xfrm>
                <a:off x="4639947" y="2374368"/>
                <a:ext cx="2253600" cy="328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2100"/>
                  </a:spcAft>
                  <a:buNone/>
                </a:pPr>
                <a:r>
                  <a:rPr b="1" lang="en-US" sz="1100">
                    <a:latin typeface="Roboto"/>
                    <a:ea typeface="Roboto"/>
                    <a:cs typeface="Roboto"/>
                    <a:sym typeface="Roboto"/>
                  </a:rPr>
                  <a:t>Actual Depart Time</a:t>
                </a:r>
                <a:endParaRPr b="1" sz="1100">
                  <a:latin typeface="Roboto"/>
                  <a:ea typeface="Roboto"/>
                  <a:cs typeface="Roboto"/>
                  <a:sym typeface="Roboto"/>
                </a:endParaRPr>
              </a:p>
            </p:txBody>
          </p:sp>
        </p:grpSp>
      </p:grpSp>
      <p:grpSp>
        <p:nvGrpSpPr>
          <p:cNvPr id="322" name="Google Shape;322;p32"/>
          <p:cNvGrpSpPr/>
          <p:nvPr/>
        </p:nvGrpSpPr>
        <p:grpSpPr>
          <a:xfrm>
            <a:off x="644048" y="3133422"/>
            <a:ext cx="3390052" cy="1658170"/>
            <a:chOff x="495999" y="2342999"/>
            <a:chExt cx="2542602" cy="1243659"/>
          </a:xfrm>
        </p:grpSpPr>
        <p:sp>
          <p:nvSpPr>
            <p:cNvPr id="323" name="Google Shape;323;p32"/>
            <p:cNvSpPr/>
            <p:nvPr/>
          </p:nvSpPr>
          <p:spPr>
            <a:xfrm>
              <a:off x="932600" y="3079475"/>
              <a:ext cx="1958400" cy="133500"/>
            </a:xfrm>
            <a:prstGeom prst="rect">
              <a:avLst/>
            </a:prstGeom>
            <a:solidFill>
              <a:srgbClr val="0E945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24" name="Google Shape;324;p32"/>
            <p:cNvGrpSpPr/>
            <p:nvPr/>
          </p:nvGrpSpPr>
          <p:grpSpPr>
            <a:xfrm>
              <a:off x="495999" y="2342999"/>
              <a:ext cx="2542602" cy="1243659"/>
              <a:chOff x="495999" y="2342999"/>
              <a:chExt cx="2542602" cy="1243659"/>
            </a:xfrm>
          </p:grpSpPr>
          <p:sp>
            <p:nvSpPr>
              <p:cNvPr id="325" name="Google Shape;325;p32"/>
              <p:cNvSpPr txBox="1"/>
              <p:nvPr/>
            </p:nvSpPr>
            <p:spPr>
              <a:xfrm>
                <a:off x="495999" y="3348458"/>
                <a:ext cx="751200" cy="2382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2100"/>
                  </a:spcAft>
                  <a:buNone/>
                </a:pPr>
                <a:r>
                  <a:rPr b="1" lang="en-US" sz="1600">
                    <a:latin typeface="Roboto"/>
                    <a:ea typeface="Roboto"/>
                    <a:cs typeface="Roboto"/>
                    <a:sym typeface="Roboto"/>
                  </a:rPr>
                  <a:t>13:24</a:t>
                </a:r>
                <a:endParaRPr b="1" sz="1600">
                  <a:latin typeface="Roboto"/>
                  <a:ea typeface="Roboto"/>
                  <a:cs typeface="Roboto"/>
                  <a:sym typeface="Roboto"/>
                </a:endParaRPr>
              </a:p>
            </p:txBody>
          </p:sp>
          <p:grpSp>
            <p:nvGrpSpPr>
              <p:cNvPr id="326" name="Google Shape;326;p32"/>
              <p:cNvGrpSpPr/>
              <p:nvPr/>
            </p:nvGrpSpPr>
            <p:grpSpPr>
              <a:xfrm>
                <a:off x="881025" y="2800065"/>
                <a:ext cx="92400" cy="411825"/>
                <a:chOff x="845575" y="2563700"/>
                <a:chExt cx="92400" cy="411825"/>
              </a:xfrm>
            </p:grpSpPr>
            <p:cxnSp>
              <p:nvCxnSpPr>
                <p:cNvPr id="327" name="Google Shape;327;p32"/>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328" name="Google Shape;328;p32"/>
                <p:cNvSpPr/>
                <p:nvPr/>
              </p:nvSpPr>
              <p:spPr>
                <a:xfrm>
                  <a:off x="845575" y="2563700"/>
                  <a:ext cx="92400" cy="92400"/>
                </a:xfrm>
                <a:prstGeom prst="ellipse">
                  <a:avLst/>
                </a:prstGeom>
                <a:solidFill>
                  <a:srgbClr val="0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29" name="Google Shape;329;p32"/>
              <p:cNvSpPr txBox="1"/>
              <p:nvPr/>
            </p:nvSpPr>
            <p:spPr>
              <a:xfrm>
                <a:off x="785001" y="2342999"/>
                <a:ext cx="2253600" cy="42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2100"/>
                  </a:spcAft>
                  <a:buNone/>
                </a:pPr>
                <a:r>
                  <a:rPr b="1" lang="en-US" sz="1100">
                    <a:latin typeface="Roboto"/>
                    <a:ea typeface="Roboto"/>
                    <a:cs typeface="Roboto"/>
                    <a:sym typeface="Roboto"/>
                  </a:rPr>
                  <a:t>Actual Depart Time</a:t>
                </a:r>
                <a:endParaRPr b="1" sz="1100">
                  <a:latin typeface="Roboto"/>
                  <a:ea typeface="Roboto"/>
                  <a:cs typeface="Roboto"/>
                  <a:sym typeface="Roboto"/>
                </a:endParaRPr>
              </a:p>
            </p:txBody>
          </p:sp>
        </p:grpSp>
      </p:grpSp>
      <p:grpSp>
        <p:nvGrpSpPr>
          <p:cNvPr id="330" name="Google Shape;330;p32"/>
          <p:cNvGrpSpPr/>
          <p:nvPr/>
        </p:nvGrpSpPr>
        <p:grpSpPr>
          <a:xfrm>
            <a:off x="8563599" y="3612873"/>
            <a:ext cx="3326001" cy="2314147"/>
            <a:chOff x="6435810" y="2702596"/>
            <a:chExt cx="2494563" cy="1735654"/>
          </a:xfrm>
        </p:grpSpPr>
        <p:sp>
          <p:nvSpPr>
            <p:cNvPr id="331" name="Google Shape;331;p32"/>
            <p:cNvSpPr/>
            <p:nvPr/>
          </p:nvSpPr>
          <p:spPr>
            <a:xfrm>
              <a:off x="6807651" y="3079482"/>
              <a:ext cx="1426800" cy="133500"/>
            </a:xfrm>
            <a:prstGeom prst="rect">
              <a:avLst/>
            </a:prstGeom>
            <a:solidFill>
              <a:srgbClr val="0856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32" name="Google Shape;332;p32"/>
            <p:cNvGrpSpPr/>
            <p:nvPr/>
          </p:nvGrpSpPr>
          <p:grpSpPr>
            <a:xfrm>
              <a:off x="6435810" y="2702596"/>
              <a:ext cx="2494563" cy="1735654"/>
              <a:chOff x="6435810" y="2702596"/>
              <a:chExt cx="2494563" cy="1735654"/>
            </a:xfrm>
          </p:grpSpPr>
          <p:grpSp>
            <p:nvGrpSpPr>
              <p:cNvPr id="333" name="Google Shape;333;p32"/>
              <p:cNvGrpSpPr/>
              <p:nvPr/>
            </p:nvGrpSpPr>
            <p:grpSpPr>
              <a:xfrm rot="10800000">
                <a:off x="6760035" y="3079467"/>
                <a:ext cx="92400" cy="411825"/>
                <a:chOff x="2070100" y="2563700"/>
                <a:chExt cx="92400" cy="411825"/>
              </a:xfrm>
            </p:grpSpPr>
            <p:cxnSp>
              <p:nvCxnSpPr>
                <p:cNvPr id="334" name="Google Shape;334;p32"/>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335" name="Google Shape;335;p32"/>
                <p:cNvSpPr/>
                <p:nvPr/>
              </p:nvSpPr>
              <p:spPr>
                <a:xfrm>
                  <a:off x="2070100" y="2563700"/>
                  <a:ext cx="92400" cy="92400"/>
                </a:xfrm>
                <a:prstGeom prst="ellipse">
                  <a:avLst/>
                </a:prstGeom>
                <a:solidFill>
                  <a:srgbClr val="0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36" name="Google Shape;336;p32"/>
              <p:cNvSpPr txBox="1"/>
              <p:nvPr/>
            </p:nvSpPr>
            <p:spPr>
              <a:xfrm>
                <a:off x="6435810" y="2702596"/>
                <a:ext cx="745800" cy="3714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2100"/>
                  </a:spcAft>
                  <a:buNone/>
                </a:pPr>
                <a:r>
                  <a:rPr b="1" lang="en-US" sz="1600">
                    <a:latin typeface="Roboto"/>
                    <a:ea typeface="Roboto"/>
                    <a:cs typeface="Roboto"/>
                    <a:sym typeface="Roboto"/>
                  </a:rPr>
                  <a:t>15:28</a:t>
                </a:r>
                <a:endParaRPr b="1" sz="1600">
                  <a:latin typeface="Roboto"/>
                  <a:ea typeface="Roboto"/>
                  <a:cs typeface="Roboto"/>
                  <a:sym typeface="Roboto"/>
                </a:endParaRPr>
              </a:p>
            </p:txBody>
          </p:sp>
          <p:sp>
            <p:nvSpPr>
              <p:cNvPr id="337" name="Google Shape;337;p32"/>
              <p:cNvSpPr txBox="1"/>
              <p:nvPr/>
            </p:nvSpPr>
            <p:spPr>
              <a:xfrm>
                <a:off x="6676773" y="3494450"/>
                <a:ext cx="2253600" cy="943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2100"/>
                  </a:spcAft>
                  <a:buNone/>
                </a:pPr>
                <a:r>
                  <a:rPr b="1" lang="en-US" sz="1100">
                    <a:latin typeface="Roboto"/>
                    <a:ea typeface="Roboto"/>
                    <a:cs typeface="Roboto"/>
                    <a:sym typeface="Roboto"/>
                  </a:rPr>
                  <a:t>Schedule </a:t>
                </a:r>
                <a:r>
                  <a:rPr b="1" lang="en-US" sz="1100">
                    <a:solidFill>
                      <a:schemeClr val="dk1"/>
                    </a:solidFill>
                    <a:latin typeface="Roboto"/>
                    <a:ea typeface="Roboto"/>
                    <a:cs typeface="Roboto"/>
                    <a:sym typeface="Roboto"/>
                  </a:rPr>
                  <a:t>Depart </a:t>
                </a:r>
                <a:r>
                  <a:rPr b="1" lang="en-US" sz="1100">
                    <a:latin typeface="Roboto"/>
                    <a:ea typeface="Roboto"/>
                    <a:cs typeface="Roboto"/>
                    <a:sym typeface="Roboto"/>
                  </a:rPr>
                  <a:t>Time</a:t>
                </a:r>
                <a:endParaRPr b="1" sz="1100">
                  <a:latin typeface="Roboto"/>
                  <a:ea typeface="Roboto"/>
                  <a:cs typeface="Roboto"/>
                  <a:sym typeface="Roboto"/>
                </a:endParaRPr>
              </a:p>
            </p:txBody>
          </p:sp>
        </p:grpSp>
      </p:grpSp>
      <p:grpSp>
        <p:nvGrpSpPr>
          <p:cNvPr id="338" name="Google Shape;338;p32"/>
          <p:cNvGrpSpPr/>
          <p:nvPr/>
        </p:nvGrpSpPr>
        <p:grpSpPr>
          <a:xfrm>
            <a:off x="3350109" y="3612873"/>
            <a:ext cx="3335057" cy="2314147"/>
            <a:chOff x="2525595" y="2702596"/>
            <a:chExt cx="2501355" cy="1735654"/>
          </a:xfrm>
        </p:grpSpPr>
        <p:sp>
          <p:nvSpPr>
            <p:cNvPr id="339" name="Google Shape;339;p32"/>
            <p:cNvSpPr/>
            <p:nvPr/>
          </p:nvSpPr>
          <p:spPr>
            <a:xfrm>
              <a:off x="2890952" y="3079475"/>
              <a:ext cx="1958400" cy="133500"/>
            </a:xfrm>
            <a:prstGeom prst="rect">
              <a:avLst/>
            </a:prstGeom>
            <a:solidFill>
              <a:srgbClr val="0856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40" name="Google Shape;340;p32"/>
            <p:cNvGrpSpPr/>
            <p:nvPr/>
          </p:nvGrpSpPr>
          <p:grpSpPr>
            <a:xfrm>
              <a:off x="2525595" y="2702596"/>
              <a:ext cx="2501355" cy="1735654"/>
              <a:chOff x="2525595" y="2702596"/>
              <a:chExt cx="2501355" cy="1735654"/>
            </a:xfrm>
          </p:grpSpPr>
          <p:sp>
            <p:nvSpPr>
              <p:cNvPr id="341" name="Google Shape;341;p32"/>
              <p:cNvSpPr txBox="1"/>
              <p:nvPr/>
            </p:nvSpPr>
            <p:spPr>
              <a:xfrm>
                <a:off x="2525595" y="2702596"/>
                <a:ext cx="745800" cy="3714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2100"/>
                  </a:spcAft>
                  <a:buNone/>
                </a:pPr>
                <a:r>
                  <a:rPr b="1" lang="en-US" sz="1600">
                    <a:latin typeface="Roboto"/>
                    <a:ea typeface="Roboto"/>
                    <a:cs typeface="Roboto"/>
                    <a:sym typeface="Roboto"/>
                  </a:rPr>
                  <a:t>13:31</a:t>
                </a:r>
                <a:endParaRPr b="1" sz="1600">
                  <a:latin typeface="Roboto"/>
                  <a:ea typeface="Roboto"/>
                  <a:cs typeface="Roboto"/>
                  <a:sym typeface="Roboto"/>
                </a:endParaRPr>
              </a:p>
            </p:txBody>
          </p:sp>
          <p:grpSp>
            <p:nvGrpSpPr>
              <p:cNvPr id="342" name="Google Shape;342;p32"/>
              <p:cNvGrpSpPr/>
              <p:nvPr/>
            </p:nvGrpSpPr>
            <p:grpSpPr>
              <a:xfrm rot="10800000">
                <a:off x="2849073" y="3079467"/>
                <a:ext cx="92400" cy="411825"/>
                <a:chOff x="2070100" y="2563700"/>
                <a:chExt cx="92400" cy="411825"/>
              </a:xfrm>
            </p:grpSpPr>
            <p:cxnSp>
              <p:nvCxnSpPr>
                <p:cNvPr id="343" name="Google Shape;343;p32"/>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344" name="Google Shape;344;p32"/>
                <p:cNvSpPr/>
                <p:nvPr/>
              </p:nvSpPr>
              <p:spPr>
                <a:xfrm>
                  <a:off x="2070100" y="2563700"/>
                  <a:ext cx="92400" cy="92400"/>
                </a:xfrm>
                <a:prstGeom prst="ellipse">
                  <a:avLst/>
                </a:prstGeom>
                <a:solidFill>
                  <a:srgbClr val="0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45" name="Google Shape;345;p32"/>
              <p:cNvSpPr txBox="1"/>
              <p:nvPr/>
            </p:nvSpPr>
            <p:spPr>
              <a:xfrm>
                <a:off x="2773350" y="3494450"/>
                <a:ext cx="2253600" cy="943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2100"/>
                  </a:spcAft>
                  <a:buNone/>
                </a:pPr>
                <a:r>
                  <a:rPr b="1" lang="en-US" sz="1100">
                    <a:latin typeface="Roboto"/>
                    <a:ea typeface="Roboto"/>
                    <a:cs typeface="Roboto"/>
                    <a:sym typeface="Roboto"/>
                  </a:rPr>
                  <a:t>Schedule Depart Time</a:t>
                </a:r>
                <a:endParaRPr b="1" sz="1100">
                  <a:latin typeface="Roboto"/>
                  <a:ea typeface="Roboto"/>
                  <a:cs typeface="Roboto"/>
                  <a:sym typeface="Roboto"/>
                </a:endParaRPr>
              </a:p>
            </p:txBody>
          </p:sp>
        </p:grpSp>
      </p:grpSp>
      <p:pic>
        <p:nvPicPr>
          <p:cNvPr id="346" name="Google Shape;346;p32"/>
          <p:cNvPicPr preferRelativeResize="0"/>
          <p:nvPr/>
        </p:nvPicPr>
        <p:blipFill>
          <a:blip r:embed="rId3">
            <a:alphaModFix/>
          </a:blip>
          <a:stretch>
            <a:fillRect/>
          </a:stretch>
        </p:blipFill>
        <p:spPr>
          <a:xfrm>
            <a:off x="-921225" y="4867775"/>
            <a:ext cx="921226" cy="745450"/>
          </a:xfrm>
          <a:prstGeom prst="rect">
            <a:avLst/>
          </a:prstGeom>
          <a:noFill/>
          <a:ln>
            <a:noFill/>
          </a:ln>
        </p:spPr>
      </p:pic>
      <p:pic>
        <p:nvPicPr>
          <p:cNvPr id="347" name="Google Shape;347;p32"/>
          <p:cNvPicPr preferRelativeResize="0"/>
          <p:nvPr/>
        </p:nvPicPr>
        <p:blipFill>
          <a:blip r:embed="rId4">
            <a:alphaModFix/>
          </a:blip>
          <a:stretch>
            <a:fillRect/>
          </a:stretch>
        </p:blipFill>
        <p:spPr>
          <a:xfrm>
            <a:off x="3540475" y="5063425"/>
            <a:ext cx="598138" cy="1196275"/>
          </a:xfrm>
          <a:prstGeom prst="rect">
            <a:avLst/>
          </a:prstGeom>
          <a:noFill/>
          <a:ln>
            <a:noFill/>
          </a:ln>
        </p:spPr>
      </p:pic>
      <p:cxnSp>
        <p:nvCxnSpPr>
          <p:cNvPr id="348" name="Google Shape;348;p32"/>
          <p:cNvCxnSpPr/>
          <p:nvPr/>
        </p:nvCxnSpPr>
        <p:spPr>
          <a:xfrm flipH="1" rot="10800000">
            <a:off x="1200850" y="2940850"/>
            <a:ext cx="5194200" cy="12600"/>
          </a:xfrm>
          <a:prstGeom prst="straightConnector1">
            <a:avLst/>
          </a:prstGeom>
          <a:noFill/>
          <a:ln cap="flat" cmpd="sng" w="9525">
            <a:solidFill>
              <a:schemeClr val="dk2"/>
            </a:solidFill>
            <a:prstDash val="solid"/>
            <a:round/>
            <a:headEnd len="med" w="med" type="none"/>
            <a:tailEnd len="med" w="med" type="none"/>
          </a:ln>
        </p:spPr>
      </p:cxnSp>
      <p:sp>
        <p:nvSpPr>
          <p:cNvPr id="349" name="Google Shape;349;p32"/>
          <p:cNvSpPr txBox="1"/>
          <p:nvPr/>
        </p:nvSpPr>
        <p:spPr>
          <a:xfrm>
            <a:off x="2089850" y="2249250"/>
            <a:ext cx="4000500" cy="46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Montserrat Medium"/>
                <a:ea typeface="Montserrat Medium"/>
                <a:cs typeface="Montserrat Medium"/>
                <a:sym typeface="Montserrat Medium"/>
              </a:rPr>
              <a:t>New Waiting Time</a:t>
            </a:r>
            <a:endParaRPr sz="1800">
              <a:solidFill>
                <a:schemeClr val="dk1"/>
              </a:solidFill>
              <a:latin typeface="Montserrat Medium"/>
              <a:ea typeface="Montserrat Medium"/>
              <a:cs typeface="Montserrat Medium"/>
              <a:sym typeface="Montserrat Medium"/>
            </a:endParaRPr>
          </a:p>
        </p:txBody>
      </p:sp>
      <p:sp>
        <p:nvSpPr>
          <p:cNvPr id="350" name="Google Shape;350;p32"/>
          <p:cNvSpPr/>
          <p:nvPr/>
        </p:nvSpPr>
        <p:spPr>
          <a:xfrm>
            <a:off x="6450165" y="4115215"/>
            <a:ext cx="2611200" cy="177900"/>
          </a:xfrm>
          <a:prstGeom prst="rect">
            <a:avLst/>
          </a:prstGeom>
          <a:solidFill>
            <a:srgbClr val="0856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1" name="Google Shape;351;p32"/>
          <p:cNvSpPr/>
          <p:nvPr/>
        </p:nvSpPr>
        <p:spPr>
          <a:xfrm>
            <a:off x="3838969" y="4115215"/>
            <a:ext cx="2611200" cy="177900"/>
          </a:xfrm>
          <a:prstGeom prst="rect">
            <a:avLst/>
          </a:prstGeom>
          <a:solidFill>
            <a:srgbClr val="0E945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000"/>
                                        <p:tgtEl>
                                          <p:spTgt spid="330"/>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346"/>
                                        </p:tgtEl>
                                        <p:attrNameLst>
                                          <p:attrName>ppt_x</p:attrName>
                                        </p:attrNameLst>
                                      </p:cBhvr>
                                      <p:tavLst>
                                        <p:tav fmla="" tm="0">
                                          <p:val>
                                            <p:strVal val="#ppt_x"/>
                                          </p:val>
                                        </p:tav>
                                        <p:tav fmla="" tm="100000">
                                          <p:val>
                                            <p:strVal val="#ppt_x+1"/>
                                          </p:val>
                                        </p:tav>
                                      </p:tavLst>
                                    </p:anim>
                                    <p:set>
                                      <p:cBhvr>
                                        <p:cTn dur="1" fill="hold">
                                          <p:stCondLst>
                                            <p:cond delay="1000"/>
                                          </p:stCondLst>
                                        </p:cTn>
                                        <p:tgtEl>
                                          <p:spTgt spid="3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22"/>
                                        </p:tgtEl>
                                        <p:attrNameLst>
                                          <p:attrName>style.visibility</p:attrName>
                                        </p:attrNameLst>
                                      </p:cBhvr>
                                      <p:to>
                                        <p:strVal val="visible"/>
                                      </p:to>
                                    </p:set>
                                    <p:anim calcmode="lin" valueType="num">
                                      <p:cBhvr additive="base">
                                        <p:cTn dur="1000"/>
                                        <p:tgtEl>
                                          <p:spTgt spid="322"/>
                                        </p:tgtEl>
                                        <p:attrNameLst>
                                          <p:attrName>ppt_x</p:attrName>
                                        </p:attrNameLst>
                                      </p:cBhvr>
                                      <p:tavLst>
                                        <p:tav fmla="" tm="0">
                                          <p:val>
                                            <p:strVal val="#ppt_x+1"/>
                                          </p:val>
                                        </p:tav>
                                        <p:tav fmla="" tm="100000">
                                          <p:val>
                                            <p:strVal val="#ppt_x"/>
                                          </p:val>
                                        </p:tav>
                                      </p:tavLst>
                                    </p:anim>
                                  </p:childTnLst>
                                </p:cTn>
                              </p:par>
                              <p:par>
                                <p:cTn fill="hold" nodeType="with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3"/>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3: </a:t>
            </a:r>
            <a:endParaRPr sz="7500">
              <a:solidFill>
                <a:schemeClr val="accent2"/>
              </a:solidFill>
              <a:latin typeface="Bebas Neue"/>
              <a:ea typeface="Bebas Neue"/>
              <a:cs typeface="Bebas Neue"/>
              <a:sym typeface="Bebas Neue"/>
            </a:endParaRPr>
          </a:p>
        </p:txBody>
      </p:sp>
      <p:sp>
        <p:nvSpPr>
          <p:cNvPr id="358" name="Google Shape;358;p33"/>
          <p:cNvSpPr txBox="1"/>
          <p:nvPr/>
        </p:nvSpPr>
        <p:spPr>
          <a:xfrm>
            <a:off x="669150" y="1912275"/>
            <a:ext cx="10853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Are there disparities in the service levels of different routes (which lines are late more often than others)?</a:t>
            </a:r>
            <a:endParaRPr/>
          </a:p>
        </p:txBody>
      </p:sp>
      <p:sp>
        <p:nvSpPr>
          <p:cNvPr id="359" name="Google Shape;359;p33"/>
          <p:cNvSpPr txBox="1"/>
          <p:nvPr/>
        </p:nvSpPr>
        <p:spPr>
          <a:xfrm>
            <a:off x="8850075" y="2712675"/>
            <a:ext cx="3493200" cy="4186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2"/>
              </a:buClr>
              <a:buSzPts val="2000"/>
              <a:buFont typeface="Montserrat"/>
              <a:buChar char="●"/>
            </a:pPr>
            <a:r>
              <a:rPr b="1" lang="en-US" sz="2000">
                <a:solidFill>
                  <a:schemeClr val="dk2"/>
                </a:solidFill>
                <a:latin typeface="Montserrat"/>
                <a:ea typeface="Montserrat"/>
                <a:cs typeface="Montserrat"/>
                <a:sym typeface="Montserrat"/>
              </a:rPr>
              <a:t>Sort in descending order by overall percentage (2019 +2022)</a:t>
            </a:r>
            <a:endParaRPr b="1" sz="20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2000">
              <a:solidFill>
                <a:schemeClr val="dk2"/>
              </a:solidFill>
              <a:latin typeface="Montserrat"/>
              <a:ea typeface="Montserrat"/>
              <a:cs typeface="Montserrat"/>
              <a:sym typeface="Montserrat"/>
            </a:endParaRPr>
          </a:p>
          <a:p>
            <a:pPr indent="-355600" lvl="0" marL="457200" rtl="0" algn="l">
              <a:spcBef>
                <a:spcPts val="0"/>
              </a:spcBef>
              <a:spcAft>
                <a:spcPts val="0"/>
              </a:spcAft>
              <a:buClr>
                <a:schemeClr val="dk2"/>
              </a:buClr>
              <a:buSzPts val="2000"/>
              <a:buFont typeface="Montserrat"/>
              <a:buChar char="●"/>
            </a:pPr>
            <a:r>
              <a:rPr b="1" lang="en-US" sz="2000">
                <a:solidFill>
                  <a:schemeClr val="dk2"/>
                </a:solidFill>
                <a:latin typeface="Montserrat"/>
                <a:ea typeface="Montserrat"/>
                <a:cs typeface="Montserrat"/>
                <a:sym typeface="Montserrat"/>
              </a:rPr>
              <a:t>Percentage of buses arriving at least 60 second later than scheduled time</a:t>
            </a:r>
            <a:endParaRPr b="1" sz="2000">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b="1" sz="2000">
              <a:solidFill>
                <a:schemeClr val="dk2"/>
              </a:solidFill>
              <a:latin typeface="Montserrat"/>
              <a:ea typeface="Montserrat"/>
              <a:cs typeface="Montserrat"/>
              <a:sym typeface="Montserrat"/>
            </a:endParaRPr>
          </a:p>
          <a:p>
            <a:pPr indent="-355600" lvl="0" marL="457200" rtl="0" algn="l">
              <a:spcBef>
                <a:spcPts val="0"/>
              </a:spcBef>
              <a:spcAft>
                <a:spcPts val="0"/>
              </a:spcAft>
              <a:buClr>
                <a:schemeClr val="dk2"/>
              </a:buClr>
              <a:buSzPts val="2000"/>
              <a:buFont typeface="Montserrat"/>
              <a:buChar char="●"/>
            </a:pPr>
            <a:r>
              <a:rPr b="1" lang="en-US" sz="2000">
                <a:solidFill>
                  <a:schemeClr val="dk2"/>
                </a:solidFill>
                <a:latin typeface="Montserrat"/>
                <a:ea typeface="Montserrat"/>
                <a:cs typeface="Montserrat"/>
                <a:sym typeface="Montserrat"/>
              </a:rPr>
              <a:t>No </a:t>
            </a:r>
            <a:r>
              <a:rPr b="1" lang="en-US" sz="2000">
                <a:solidFill>
                  <a:schemeClr val="dk2"/>
                </a:solidFill>
                <a:latin typeface="Montserrat"/>
                <a:ea typeface="Montserrat"/>
                <a:cs typeface="Montserrat"/>
                <a:sym typeface="Montserrat"/>
              </a:rPr>
              <a:t>significant</a:t>
            </a:r>
            <a:r>
              <a:rPr b="1" lang="en-US" sz="2000">
                <a:solidFill>
                  <a:schemeClr val="dk2"/>
                </a:solidFill>
                <a:latin typeface="Montserrat"/>
                <a:ea typeface="Montserrat"/>
                <a:cs typeface="Montserrat"/>
                <a:sym typeface="Montserrat"/>
              </a:rPr>
              <a:t>  </a:t>
            </a:r>
            <a:r>
              <a:rPr b="1" lang="en-US" sz="2000">
                <a:solidFill>
                  <a:schemeClr val="dk2"/>
                </a:solidFill>
                <a:latin typeface="Montserrat"/>
                <a:ea typeface="Montserrat"/>
                <a:cs typeface="Montserrat"/>
                <a:sym typeface="Montserrat"/>
              </a:rPr>
              <a:t>disparity in the service level</a:t>
            </a:r>
            <a:endParaRPr b="1" sz="2000">
              <a:solidFill>
                <a:schemeClr val="dk2"/>
              </a:solidFill>
              <a:latin typeface="Montserrat"/>
              <a:ea typeface="Montserrat"/>
              <a:cs typeface="Montserrat"/>
              <a:sym typeface="Montserrat"/>
            </a:endParaRPr>
          </a:p>
        </p:txBody>
      </p:sp>
      <p:pic>
        <p:nvPicPr>
          <p:cNvPr id="360" name="Google Shape;360;p33"/>
          <p:cNvPicPr preferRelativeResize="0"/>
          <p:nvPr/>
        </p:nvPicPr>
        <p:blipFill>
          <a:blip r:embed="rId3">
            <a:alphaModFix/>
          </a:blip>
          <a:stretch>
            <a:fillRect/>
          </a:stretch>
        </p:blipFill>
        <p:spPr>
          <a:xfrm>
            <a:off x="152400" y="2661300"/>
            <a:ext cx="8697675" cy="41966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3.1: </a:t>
            </a:r>
            <a:endParaRPr sz="7500">
              <a:solidFill>
                <a:schemeClr val="accent2"/>
              </a:solidFill>
              <a:latin typeface="Bebas Neue"/>
              <a:ea typeface="Bebas Neue"/>
              <a:cs typeface="Bebas Neue"/>
              <a:sym typeface="Bebas Neue"/>
            </a:endParaRPr>
          </a:p>
        </p:txBody>
      </p:sp>
      <p:sp>
        <p:nvSpPr>
          <p:cNvPr id="367" name="Google Shape;367;p34"/>
          <p:cNvSpPr txBox="1"/>
          <p:nvPr/>
        </p:nvSpPr>
        <p:spPr>
          <a:xfrm>
            <a:off x="669150" y="1912275"/>
            <a:ext cx="10853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If there are service level disparities, are there differences in the characteristics of the people most impacted? (Map over census tract)</a:t>
            </a:r>
            <a:endParaRPr/>
          </a:p>
        </p:txBody>
      </p:sp>
      <p:pic>
        <p:nvPicPr>
          <p:cNvPr id="368" name="Google Shape;368;p34"/>
          <p:cNvPicPr preferRelativeResize="0"/>
          <p:nvPr/>
        </p:nvPicPr>
        <p:blipFill>
          <a:blip r:embed="rId3">
            <a:alphaModFix/>
          </a:blip>
          <a:stretch>
            <a:fillRect/>
          </a:stretch>
        </p:blipFill>
        <p:spPr>
          <a:xfrm>
            <a:off x="1174838" y="2871337"/>
            <a:ext cx="6905225" cy="3410875"/>
          </a:xfrm>
          <a:prstGeom prst="rect">
            <a:avLst/>
          </a:prstGeom>
          <a:noFill/>
          <a:ln>
            <a:noFill/>
          </a:ln>
        </p:spPr>
      </p:pic>
      <p:sp>
        <p:nvSpPr>
          <p:cNvPr id="369" name="Google Shape;369;p34"/>
          <p:cNvSpPr txBox="1"/>
          <p:nvPr/>
        </p:nvSpPr>
        <p:spPr>
          <a:xfrm>
            <a:off x="8279675" y="3514775"/>
            <a:ext cx="33843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b="1" lang="en-US" sz="1800">
                <a:solidFill>
                  <a:schemeClr val="dk2"/>
                </a:solidFill>
                <a:latin typeface="Montserrat"/>
                <a:ea typeface="Montserrat"/>
                <a:cs typeface="Montserrat"/>
                <a:sym typeface="Montserrat"/>
              </a:rPr>
              <a:t>Bus routes facing the most significant delays serve areas with highest percentages of minority and low income populations. </a:t>
            </a:r>
            <a:endParaRPr b="1" sz="1800">
              <a:solidFill>
                <a:schemeClr val="dk2"/>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5"/>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 3.1: </a:t>
            </a:r>
            <a:endParaRPr sz="7500">
              <a:solidFill>
                <a:schemeClr val="accent2"/>
              </a:solidFill>
              <a:latin typeface="Bebas Neue"/>
              <a:ea typeface="Bebas Neue"/>
              <a:cs typeface="Bebas Neue"/>
              <a:sym typeface="Bebas Neue"/>
            </a:endParaRPr>
          </a:p>
        </p:txBody>
      </p:sp>
      <p:pic>
        <p:nvPicPr>
          <p:cNvPr id="376" name="Google Shape;376;p35"/>
          <p:cNvPicPr preferRelativeResize="0"/>
          <p:nvPr/>
        </p:nvPicPr>
        <p:blipFill>
          <a:blip r:embed="rId3">
            <a:alphaModFix/>
          </a:blip>
          <a:stretch>
            <a:fillRect/>
          </a:stretch>
        </p:blipFill>
        <p:spPr>
          <a:xfrm>
            <a:off x="743475" y="2003688"/>
            <a:ext cx="3169900" cy="1899725"/>
          </a:xfrm>
          <a:prstGeom prst="rect">
            <a:avLst/>
          </a:prstGeom>
          <a:noFill/>
          <a:ln>
            <a:noFill/>
          </a:ln>
        </p:spPr>
      </p:pic>
      <p:pic>
        <p:nvPicPr>
          <p:cNvPr id="377" name="Google Shape;377;p35"/>
          <p:cNvPicPr preferRelativeResize="0"/>
          <p:nvPr/>
        </p:nvPicPr>
        <p:blipFill>
          <a:blip r:embed="rId4">
            <a:alphaModFix/>
          </a:blip>
          <a:stretch>
            <a:fillRect/>
          </a:stretch>
        </p:blipFill>
        <p:spPr>
          <a:xfrm>
            <a:off x="4339977" y="2003688"/>
            <a:ext cx="3169890" cy="1899725"/>
          </a:xfrm>
          <a:prstGeom prst="rect">
            <a:avLst/>
          </a:prstGeom>
          <a:noFill/>
          <a:ln>
            <a:noFill/>
          </a:ln>
        </p:spPr>
      </p:pic>
      <p:pic>
        <p:nvPicPr>
          <p:cNvPr id="378" name="Google Shape;378;p35"/>
          <p:cNvPicPr preferRelativeResize="0"/>
          <p:nvPr/>
        </p:nvPicPr>
        <p:blipFill>
          <a:blip r:embed="rId5">
            <a:alphaModFix/>
          </a:blip>
          <a:stretch>
            <a:fillRect/>
          </a:stretch>
        </p:blipFill>
        <p:spPr>
          <a:xfrm>
            <a:off x="7936475" y="2003688"/>
            <a:ext cx="3169890" cy="1899725"/>
          </a:xfrm>
          <a:prstGeom prst="rect">
            <a:avLst/>
          </a:prstGeom>
          <a:noFill/>
          <a:ln>
            <a:noFill/>
          </a:ln>
        </p:spPr>
      </p:pic>
      <p:pic>
        <p:nvPicPr>
          <p:cNvPr id="379" name="Google Shape;379;p35"/>
          <p:cNvPicPr preferRelativeResize="0"/>
          <p:nvPr/>
        </p:nvPicPr>
        <p:blipFill>
          <a:blip r:embed="rId6">
            <a:alphaModFix/>
          </a:blip>
          <a:stretch>
            <a:fillRect/>
          </a:stretch>
        </p:blipFill>
        <p:spPr>
          <a:xfrm>
            <a:off x="743500" y="4385500"/>
            <a:ext cx="3169857" cy="1899700"/>
          </a:xfrm>
          <a:prstGeom prst="rect">
            <a:avLst/>
          </a:prstGeom>
          <a:noFill/>
          <a:ln>
            <a:noFill/>
          </a:ln>
        </p:spPr>
      </p:pic>
      <p:pic>
        <p:nvPicPr>
          <p:cNvPr id="380" name="Google Shape;380;p35"/>
          <p:cNvPicPr preferRelativeResize="0"/>
          <p:nvPr/>
        </p:nvPicPr>
        <p:blipFill>
          <a:blip r:embed="rId7">
            <a:alphaModFix/>
          </a:blip>
          <a:stretch>
            <a:fillRect/>
          </a:stretch>
        </p:blipFill>
        <p:spPr>
          <a:xfrm>
            <a:off x="4384775" y="4385500"/>
            <a:ext cx="3080304" cy="1899700"/>
          </a:xfrm>
          <a:prstGeom prst="rect">
            <a:avLst/>
          </a:prstGeom>
          <a:noFill/>
          <a:ln>
            <a:noFill/>
          </a:ln>
        </p:spPr>
      </p:pic>
      <p:sp>
        <p:nvSpPr>
          <p:cNvPr id="381" name="Google Shape;381;p35"/>
          <p:cNvSpPr txBox="1"/>
          <p:nvPr/>
        </p:nvSpPr>
        <p:spPr>
          <a:xfrm>
            <a:off x="7822425" y="4550400"/>
            <a:ext cx="33843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b="1" lang="en-US" sz="1800">
                <a:solidFill>
                  <a:schemeClr val="dk2"/>
                </a:solidFill>
                <a:latin typeface="Montserrat"/>
                <a:ea typeface="Montserrat"/>
                <a:cs typeface="Montserrat"/>
                <a:sym typeface="Montserrat"/>
              </a:rPr>
              <a:t>23, 22, 28 &amp; 29, 15 are services that connect Environmental Justice Communities</a:t>
            </a:r>
            <a:endParaRPr b="1" sz="1800">
              <a:solidFill>
                <a:schemeClr val="dk2"/>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6"/>
          <p:cNvSpPr txBox="1"/>
          <p:nvPr/>
        </p:nvSpPr>
        <p:spPr>
          <a:xfrm>
            <a:off x="1546350" y="573075"/>
            <a:ext cx="9099300" cy="249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US" sz="7500">
                <a:solidFill>
                  <a:schemeClr val="accent2"/>
                </a:solidFill>
                <a:latin typeface="Bebas Neue"/>
                <a:ea typeface="Bebas Neue"/>
                <a:cs typeface="Bebas Neue"/>
                <a:sym typeface="Bebas Neue"/>
              </a:rPr>
              <a:t>Question 3.2: </a:t>
            </a:r>
            <a:endParaRPr sz="7500">
              <a:solidFill>
                <a:schemeClr val="accent2"/>
              </a:solidFill>
              <a:latin typeface="Bebas Neue"/>
              <a:ea typeface="Bebas Neue"/>
              <a:cs typeface="Bebas Neue"/>
              <a:sym typeface="Bebas Neue"/>
            </a:endParaRPr>
          </a:p>
          <a:p>
            <a:pPr indent="0" lvl="0" marL="0" rtl="0" algn="ctr">
              <a:spcBef>
                <a:spcPts val="0"/>
              </a:spcBef>
              <a:spcAft>
                <a:spcPts val="0"/>
              </a:spcAft>
              <a:buNone/>
            </a:pPr>
            <a:r>
              <a:t/>
            </a:r>
            <a:endParaRPr sz="7500">
              <a:solidFill>
                <a:schemeClr val="accent2"/>
              </a:solidFill>
              <a:latin typeface="Bebas Neue"/>
              <a:ea typeface="Bebas Neue"/>
              <a:cs typeface="Bebas Neue"/>
              <a:sym typeface="Bebas Neue"/>
            </a:endParaRPr>
          </a:p>
        </p:txBody>
      </p:sp>
      <p:pic>
        <p:nvPicPr>
          <p:cNvPr id="388" name="Google Shape;388;p36"/>
          <p:cNvPicPr preferRelativeResize="0"/>
          <p:nvPr/>
        </p:nvPicPr>
        <p:blipFill>
          <a:blip r:embed="rId3">
            <a:alphaModFix/>
          </a:blip>
          <a:stretch>
            <a:fillRect/>
          </a:stretch>
        </p:blipFill>
        <p:spPr>
          <a:xfrm>
            <a:off x="4799875" y="7308000"/>
            <a:ext cx="6839875" cy="4567626"/>
          </a:xfrm>
          <a:prstGeom prst="rect">
            <a:avLst/>
          </a:prstGeom>
          <a:noFill/>
          <a:ln>
            <a:noFill/>
          </a:ln>
        </p:spPr>
      </p:pic>
      <p:sp>
        <p:nvSpPr>
          <p:cNvPr id="389" name="Google Shape;389;p36"/>
          <p:cNvSpPr txBox="1"/>
          <p:nvPr/>
        </p:nvSpPr>
        <p:spPr>
          <a:xfrm>
            <a:off x="669150" y="1683675"/>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rgbClr val="3D3D3D"/>
                </a:solidFill>
                <a:latin typeface="Montserrat"/>
                <a:ea typeface="Montserrat"/>
                <a:cs typeface="Montserrat"/>
                <a:sym typeface="Montserrat"/>
              </a:rPr>
              <a:t>Can we chart changes over time?</a:t>
            </a:r>
            <a:endParaRPr/>
          </a:p>
        </p:txBody>
      </p:sp>
      <p:sp>
        <p:nvSpPr>
          <p:cNvPr id="390" name="Google Shape;390;p36"/>
          <p:cNvSpPr txBox="1"/>
          <p:nvPr/>
        </p:nvSpPr>
        <p:spPr>
          <a:xfrm>
            <a:off x="209325" y="2334725"/>
            <a:ext cx="5283000" cy="4413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Montserrat Medium"/>
              <a:buChar char="●"/>
            </a:pPr>
            <a:r>
              <a:rPr lang="en-US" sz="1800">
                <a:solidFill>
                  <a:schemeClr val="dk2"/>
                </a:solidFill>
                <a:latin typeface="Montserrat Medium"/>
                <a:ea typeface="Montserrat Medium"/>
                <a:cs typeface="Montserrat Medium"/>
                <a:sym typeface="Montserrat Medium"/>
              </a:rPr>
              <a:t>People are “driving alone” to commuter rail and ferry stations</a:t>
            </a:r>
            <a:endParaRPr sz="1800">
              <a:solidFill>
                <a:schemeClr val="dk2"/>
              </a:solidFill>
              <a:latin typeface="Montserrat Medium"/>
              <a:ea typeface="Montserrat Medium"/>
              <a:cs typeface="Montserrat Medium"/>
              <a:sym typeface="Montserrat Medium"/>
            </a:endParaRPr>
          </a:p>
          <a:p>
            <a:pPr indent="-342900" lvl="0" marL="457200" rtl="0" algn="l">
              <a:spcBef>
                <a:spcPts val="0"/>
              </a:spcBef>
              <a:spcAft>
                <a:spcPts val="0"/>
              </a:spcAft>
              <a:buClr>
                <a:schemeClr val="dk2"/>
              </a:buClr>
              <a:buSzPts val="1800"/>
              <a:buFont typeface="Montserrat Medium"/>
              <a:buChar char="●"/>
            </a:pPr>
            <a:r>
              <a:rPr lang="en-US" sz="1800">
                <a:solidFill>
                  <a:schemeClr val="dk2"/>
                </a:solidFill>
                <a:latin typeface="Montserrat Medium"/>
                <a:ea typeface="Montserrat Medium"/>
                <a:cs typeface="Montserrat Medium"/>
                <a:sym typeface="Montserrat Medium"/>
              </a:rPr>
              <a:t>Significant drop in percentage in post-pandemic era</a:t>
            </a:r>
            <a:endParaRPr sz="1800">
              <a:solidFill>
                <a:schemeClr val="dk2"/>
              </a:solidFill>
              <a:latin typeface="Montserrat Medium"/>
              <a:ea typeface="Montserrat Medium"/>
              <a:cs typeface="Montserrat Medium"/>
              <a:sym typeface="Montserrat Medium"/>
            </a:endParaRPr>
          </a:p>
          <a:p>
            <a:pPr indent="-342900" lvl="0" marL="457200" rtl="0" algn="l">
              <a:spcBef>
                <a:spcPts val="0"/>
              </a:spcBef>
              <a:spcAft>
                <a:spcPts val="0"/>
              </a:spcAft>
              <a:buClr>
                <a:schemeClr val="dk2"/>
              </a:buClr>
              <a:buSzPts val="1800"/>
              <a:buFont typeface="Montserrat Medium"/>
              <a:buChar char="●"/>
            </a:pPr>
            <a:r>
              <a:rPr lang="en-US" sz="1800">
                <a:solidFill>
                  <a:schemeClr val="dk2"/>
                </a:solidFill>
                <a:latin typeface="Montserrat Medium"/>
                <a:ea typeface="Montserrat Medium"/>
                <a:cs typeface="Montserrat Medium"/>
                <a:sym typeface="Montserrat Medium"/>
              </a:rPr>
              <a:t>Most people travel for work (over 60% post-pandemic and over 70% pre-pandemic)</a:t>
            </a:r>
            <a:endParaRPr sz="1800">
              <a:solidFill>
                <a:schemeClr val="dk2"/>
              </a:solidFill>
              <a:latin typeface="Montserrat Medium"/>
              <a:ea typeface="Montserrat Medium"/>
              <a:cs typeface="Montserrat Medium"/>
              <a:sym typeface="Montserrat Medium"/>
            </a:endParaRPr>
          </a:p>
          <a:p>
            <a:pPr indent="-342900" lvl="0" marL="457200" rtl="0" algn="l">
              <a:spcBef>
                <a:spcPts val="0"/>
              </a:spcBef>
              <a:spcAft>
                <a:spcPts val="0"/>
              </a:spcAft>
              <a:buClr>
                <a:schemeClr val="dk2"/>
              </a:buClr>
              <a:buSzPts val="1800"/>
              <a:buFont typeface="Montserrat Medium"/>
              <a:buChar char="●"/>
            </a:pPr>
            <a:r>
              <a:rPr lang="en-US" sz="1800">
                <a:solidFill>
                  <a:schemeClr val="dk2"/>
                </a:solidFill>
                <a:latin typeface="Montserrat Medium"/>
                <a:ea typeface="Montserrat Medium"/>
                <a:cs typeface="Montserrat Medium"/>
                <a:sym typeface="Montserrat Medium"/>
              </a:rPr>
              <a:t>This implies that those people are either leaving the job or switching to remote work</a:t>
            </a:r>
            <a:endParaRPr sz="1800">
              <a:solidFill>
                <a:schemeClr val="dk2"/>
              </a:solidFill>
              <a:latin typeface="Montserrat Medium"/>
              <a:ea typeface="Montserrat Medium"/>
              <a:cs typeface="Montserrat Medium"/>
              <a:sym typeface="Montserrat Medium"/>
            </a:endParaRPr>
          </a:p>
          <a:p>
            <a:pPr indent="0" lvl="0" marL="457200" rtl="0" algn="l">
              <a:spcBef>
                <a:spcPts val="0"/>
              </a:spcBef>
              <a:spcAft>
                <a:spcPts val="0"/>
              </a:spcAft>
              <a:buNone/>
            </a:pPr>
            <a:r>
              <a:t/>
            </a:r>
            <a:endParaRPr sz="1800">
              <a:solidFill>
                <a:schemeClr val="dk2"/>
              </a:solidFill>
              <a:latin typeface="Montserrat Medium"/>
              <a:ea typeface="Montserrat Medium"/>
              <a:cs typeface="Montserrat Medium"/>
              <a:sym typeface="Montserrat Medium"/>
            </a:endParaRPr>
          </a:p>
          <a:p>
            <a:pPr indent="-342900" lvl="0" marL="457200" rtl="0" algn="l">
              <a:spcBef>
                <a:spcPts val="0"/>
              </a:spcBef>
              <a:spcAft>
                <a:spcPts val="0"/>
              </a:spcAft>
              <a:buClr>
                <a:schemeClr val="dk2"/>
              </a:buClr>
              <a:buSzPts val="1800"/>
              <a:buFont typeface="Montserrat Medium"/>
              <a:buChar char="●"/>
            </a:pPr>
            <a:r>
              <a:rPr b="1" lang="en-US" sz="1800">
                <a:solidFill>
                  <a:schemeClr val="dk2"/>
                </a:solidFill>
                <a:latin typeface="Montserrat"/>
                <a:ea typeface="Montserrat"/>
                <a:cs typeface="Montserrat"/>
                <a:sym typeface="Montserrat"/>
              </a:rPr>
              <a:t>Conclusion</a:t>
            </a:r>
            <a:r>
              <a:rPr lang="en-US" sz="1800">
                <a:solidFill>
                  <a:schemeClr val="dk2"/>
                </a:solidFill>
                <a:latin typeface="Montserrat Medium"/>
                <a:ea typeface="Montserrat Medium"/>
                <a:cs typeface="Montserrat Medium"/>
                <a:sym typeface="Montserrat Medium"/>
              </a:rPr>
              <a:t>: Need to improve the MBTA network (especially for commuter rails and ferries) to adapt shift of work patterns and the commute needs</a:t>
            </a:r>
            <a:endParaRPr sz="1800">
              <a:solidFill>
                <a:schemeClr val="dk2"/>
              </a:solidFill>
              <a:latin typeface="Montserrat Medium"/>
              <a:ea typeface="Montserrat Medium"/>
              <a:cs typeface="Montserrat Medium"/>
              <a:sym typeface="Montserrat Medium"/>
            </a:endParaRPr>
          </a:p>
        </p:txBody>
      </p:sp>
      <p:pic>
        <p:nvPicPr>
          <p:cNvPr id="391" name="Google Shape;391;p36"/>
          <p:cNvPicPr preferRelativeResize="0"/>
          <p:nvPr/>
        </p:nvPicPr>
        <p:blipFill>
          <a:blip r:embed="rId4">
            <a:alphaModFix/>
          </a:blip>
          <a:stretch>
            <a:fillRect/>
          </a:stretch>
        </p:blipFill>
        <p:spPr>
          <a:xfrm>
            <a:off x="5881156" y="4534825"/>
            <a:ext cx="6237194" cy="2323175"/>
          </a:xfrm>
          <a:prstGeom prst="rect">
            <a:avLst/>
          </a:prstGeom>
          <a:noFill/>
          <a:ln>
            <a:noFill/>
          </a:ln>
        </p:spPr>
      </p:pic>
      <p:pic>
        <p:nvPicPr>
          <p:cNvPr id="392" name="Google Shape;392;p36"/>
          <p:cNvPicPr preferRelativeResize="0"/>
          <p:nvPr/>
        </p:nvPicPr>
        <p:blipFill>
          <a:blip r:embed="rId5">
            <a:alphaModFix/>
          </a:blip>
          <a:stretch>
            <a:fillRect/>
          </a:stretch>
        </p:blipFill>
        <p:spPr>
          <a:xfrm>
            <a:off x="5881150" y="2247425"/>
            <a:ext cx="5972604" cy="22162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7"/>
          <p:cNvSpPr txBox="1"/>
          <p:nvPr/>
        </p:nvSpPr>
        <p:spPr>
          <a:xfrm>
            <a:off x="1546350" y="573075"/>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Additional </a:t>
            </a:r>
            <a:r>
              <a:rPr lang="en-US" sz="7500">
                <a:solidFill>
                  <a:schemeClr val="accent2"/>
                </a:solidFill>
                <a:latin typeface="Bebas Neue"/>
                <a:ea typeface="Bebas Neue"/>
                <a:cs typeface="Bebas Neue"/>
                <a:sym typeface="Bebas Neue"/>
              </a:rPr>
              <a:t>Question : </a:t>
            </a:r>
            <a:endParaRPr sz="7500">
              <a:solidFill>
                <a:schemeClr val="accent2"/>
              </a:solidFill>
              <a:latin typeface="Bebas Neue"/>
              <a:ea typeface="Bebas Neue"/>
              <a:cs typeface="Bebas Neue"/>
              <a:sym typeface="Bebas Neue"/>
            </a:endParaRPr>
          </a:p>
        </p:txBody>
      </p:sp>
      <p:sp>
        <p:nvSpPr>
          <p:cNvPr id="399" name="Google Shape;399;p37"/>
          <p:cNvSpPr txBox="1"/>
          <p:nvPr/>
        </p:nvSpPr>
        <p:spPr>
          <a:xfrm>
            <a:off x="669150" y="1524075"/>
            <a:ext cx="1085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2"/>
                </a:solidFill>
                <a:latin typeface="Montserrat"/>
                <a:ea typeface="Montserrat"/>
                <a:cs typeface="Montserrat"/>
                <a:sym typeface="Montserrat"/>
              </a:rPr>
              <a:t>Departure latency for each bus stop</a:t>
            </a:r>
            <a:endParaRPr/>
          </a:p>
        </p:txBody>
      </p:sp>
      <p:pic>
        <p:nvPicPr>
          <p:cNvPr id="400" name="Google Shape;400;p37"/>
          <p:cNvPicPr preferRelativeResize="0"/>
          <p:nvPr/>
        </p:nvPicPr>
        <p:blipFill>
          <a:blip r:embed="rId3">
            <a:alphaModFix/>
          </a:blip>
          <a:stretch>
            <a:fillRect/>
          </a:stretch>
        </p:blipFill>
        <p:spPr>
          <a:xfrm>
            <a:off x="51725" y="2104400"/>
            <a:ext cx="7565798" cy="4536524"/>
          </a:xfrm>
          <a:prstGeom prst="rect">
            <a:avLst/>
          </a:prstGeom>
          <a:noFill/>
          <a:ln>
            <a:noFill/>
          </a:ln>
        </p:spPr>
      </p:pic>
      <p:sp>
        <p:nvSpPr>
          <p:cNvPr id="401" name="Google Shape;401;p37"/>
          <p:cNvSpPr txBox="1"/>
          <p:nvPr/>
        </p:nvSpPr>
        <p:spPr>
          <a:xfrm>
            <a:off x="7122525" y="2705900"/>
            <a:ext cx="5362800" cy="1169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1600">
                <a:solidFill>
                  <a:schemeClr val="dk2"/>
                </a:solidFill>
                <a:latin typeface="Montserrat"/>
                <a:ea typeface="Montserrat"/>
                <a:cs typeface="Montserrat"/>
                <a:sym typeface="Montserrat"/>
              </a:rPr>
              <a:t>For each stop:</a:t>
            </a:r>
            <a:endParaRPr b="1" sz="1600">
              <a:solidFill>
                <a:schemeClr val="dk2"/>
              </a:solidFill>
              <a:latin typeface="Montserrat"/>
              <a:ea typeface="Montserrat"/>
              <a:cs typeface="Montserrat"/>
              <a:sym typeface="Montserrat"/>
            </a:endParaRPr>
          </a:p>
          <a:p>
            <a:pPr indent="457200" lvl="0" marL="0" rtl="0" algn="just">
              <a:lnSpc>
                <a:spcPct val="150000"/>
              </a:lnSpc>
              <a:spcBef>
                <a:spcPts val="0"/>
              </a:spcBef>
              <a:spcAft>
                <a:spcPts val="0"/>
              </a:spcAft>
              <a:buNone/>
            </a:pPr>
            <a:r>
              <a:rPr b="1" lang="en-US" sz="1600">
                <a:solidFill>
                  <a:schemeClr val="dk2"/>
                </a:solidFill>
                <a:latin typeface="Montserrat"/>
                <a:ea typeface="Montserrat"/>
                <a:cs typeface="Montserrat"/>
                <a:sym typeface="Montserrat"/>
              </a:rPr>
              <a:t>latency = (actual - scheduled) headway</a:t>
            </a:r>
            <a:endParaRPr b="1" sz="1600">
              <a:solidFill>
                <a:schemeClr val="dk2"/>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b="1" sz="1600">
              <a:solidFill>
                <a:schemeClr val="dk2"/>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8"/>
          <p:cNvSpPr txBox="1"/>
          <p:nvPr>
            <p:ph type="title"/>
          </p:nvPr>
        </p:nvSpPr>
        <p:spPr>
          <a:xfrm>
            <a:off x="581192" y="702156"/>
            <a:ext cx="11029500" cy="1013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sz="6000">
                <a:solidFill>
                  <a:schemeClr val="accent3"/>
                </a:solidFill>
                <a:latin typeface="Bebas Neue"/>
                <a:ea typeface="Bebas Neue"/>
                <a:cs typeface="Bebas Neue"/>
                <a:sym typeface="Bebas Neue"/>
              </a:rPr>
              <a:t>Conclusion</a:t>
            </a:r>
            <a:endParaRPr/>
          </a:p>
        </p:txBody>
      </p:sp>
      <p:sp>
        <p:nvSpPr>
          <p:cNvPr id="408" name="Google Shape;408;p38"/>
          <p:cNvSpPr txBox="1"/>
          <p:nvPr>
            <p:ph idx="1" type="body"/>
          </p:nvPr>
        </p:nvSpPr>
        <p:spPr>
          <a:xfrm>
            <a:off x="970200" y="2688208"/>
            <a:ext cx="10251600" cy="3014700"/>
          </a:xfrm>
          <a:prstGeom prst="rect">
            <a:avLst/>
          </a:prstGeom>
        </p:spPr>
        <p:txBody>
          <a:bodyPr anchorCtr="0" anchor="ctr" bIns="45700" lIns="91425" spcFirstLastPara="1" rIns="91425" wrap="square" tIns="45700">
            <a:normAutofit lnSpcReduction="20000"/>
          </a:bodyPr>
          <a:lstStyle/>
          <a:p>
            <a:pPr indent="-333756" lvl="0" marL="457200" rtl="0" algn="l">
              <a:spcBef>
                <a:spcPts val="360"/>
              </a:spcBef>
              <a:spcAft>
                <a:spcPts val="0"/>
              </a:spcAft>
              <a:buSzPts val="1656"/>
              <a:buChar char="◼"/>
            </a:pPr>
            <a:r>
              <a:rPr lang="en-US"/>
              <a:t>Prioritizing EJ Routes: Enhancing service frequency and reliability for routes serving EJ communities.</a:t>
            </a:r>
            <a:endParaRPr/>
          </a:p>
          <a:p>
            <a:pPr indent="0" lvl="0" marL="457200" rtl="0" algn="l">
              <a:spcBef>
                <a:spcPts val="360"/>
              </a:spcBef>
              <a:spcAft>
                <a:spcPts val="0"/>
              </a:spcAft>
              <a:buNone/>
            </a:pPr>
            <a:r>
              <a:t/>
            </a:r>
            <a:endParaRPr/>
          </a:p>
          <a:p>
            <a:pPr indent="-333756" lvl="0" marL="457200" rtl="0" algn="l">
              <a:spcBef>
                <a:spcPts val="360"/>
              </a:spcBef>
              <a:spcAft>
                <a:spcPts val="0"/>
              </a:spcAft>
              <a:buSzPts val="1656"/>
              <a:buChar char="◼"/>
            </a:pPr>
            <a:r>
              <a:rPr lang="en-US"/>
              <a:t>Data-Driven Adjustments: Continuously monitoring performance metrics to adapt operations effectively.</a:t>
            </a:r>
            <a:endParaRPr/>
          </a:p>
          <a:p>
            <a:pPr indent="0" lvl="0" marL="457200" rtl="0" algn="l">
              <a:spcBef>
                <a:spcPts val="360"/>
              </a:spcBef>
              <a:spcAft>
                <a:spcPts val="0"/>
              </a:spcAft>
              <a:buNone/>
            </a:pPr>
            <a:r>
              <a:t/>
            </a:r>
            <a:endParaRPr/>
          </a:p>
          <a:p>
            <a:pPr indent="-333756" lvl="0" marL="457200" rtl="0" algn="l">
              <a:spcBef>
                <a:spcPts val="360"/>
              </a:spcBef>
              <a:spcAft>
                <a:spcPts val="0"/>
              </a:spcAft>
              <a:buSzPts val="1656"/>
              <a:buChar char="◼"/>
            </a:pPr>
            <a:r>
              <a:rPr lang="en-US"/>
              <a:t>Investing in Infrastructure: </a:t>
            </a:r>
            <a:r>
              <a:rPr lang="en-US"/>
              <a:t>A</a:t>
            </a:r>
            <a:r>
              <a:rPr lang="en-US"/>
              <a:t>llocating resources for better scheduling, operational enhancements, and additional buses for high-demand routes. </a:t>
            </a:r>
            <a:endParaRPr/>
          </a:p>
          <a:p>
            <a:pPr indent="0" lvl="0" marL="457200" rtl="0" algn="l">
              <a:spcBef>
                <a:spcPts val="360"/>
              </a:spcBef>
              <a:spcAft>
                <a:spcPts val="0"/>
              </a:spcAft>
              <a:buNone/>
            </a:pPr>
            <a:r>
              <a:t/>
            </a:r>
            <a:endParaRPr/>
          </a:p>
          <a:p>
            <a:pPr indent="-333756" lvl="0" marL="457200" rtl="0" algn="l">
              <a:spcBef>
                <a:spcPts val="360"/>
              </a:spcBef>
              <a:spcAft>
                <a:spcPts val="0"/>
              </a:spcAft>
              <a:buSzPts val="1656"/>
              <a:buChar char="◼"/>
            </a:pPr>
            <a:r>
              <a:rPr lang="en-US"/>
              <a:t>Ensuring Timely Departures for Low-Frequency Routes: Preventing early departures on buses with fewer trips to avoid long wait times for passengers. Ex: Route 14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9"/>
          <p:cNvSpPr txBox="1"/>
          <p:nvPr/>
        </p:nvSpPr>
        <p:spPr>
          <a:xfrm>
            <a:off x="1546350" y="2454600"/>
            <a:ext cx="90993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500">
                <a:solidFill>
                  <a:schemeClr val="accent2"/>
                </a:solidFill>
                <a:latin typeface="Bebas Neue"/>
                <a:ea typeface="Bebas Neue"/>
                <a:cs typeface="Bebas Neue"/>
                <a:sym typeface="Bebas Neue"/>
              </a:rPr>
              <a:t>Questions</a:t>
            </a:r>
            <a:endParaRPr sz="7500">
              <a:solidFill>
                <a:schemeClr val="accent2"/>
              </a:solidFill>
              <a:latin typeface="Bebas Neue"/>
              <a:ea typeface="Bebas Neue"/>
              <a:cs typeface="Bebas Neue"/>
              <a:sym typeface="Bebas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0"/>
          <p:cNvSpPr txBox="1"/>
          <p:nvPr/>
        </p:nvSpPr>
        <p:spPr>
          <a:xfrm>
            <a:off x="2608656" y="1298185"/>
            <a:ext cx="68295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3A694"/>
              </a:buClr>
              <a:buSzPts val="4800"/>
              <a:buFont typeface="Montserrat Medium"/>
              <a:buNone/>
            </a:pPr>
            <a:r>
              <a:rPr lang="en-US" sz="4800">
                <a:solidFill>
                  <a:srgbClr val="13A694"/>
                </a:solidFill>
                <a:latin typeface="Bebas Neue"/>
                <a:ea typeface="Bebas Neue"/>
                <a:cs typeface="Bebas Neue"/>
                <a:sym typeface="Bebas Neue"/>
              </a:rPr>
              <a:t>Thank you!</a:t>
            </a:r>
            <a:endParaRPr i="0" sz="1400" u="none" cap="none" strike="noStrike">
              <a:solidFill>
                <a:srgbClr val="000000"/>
              </a:solidFill>
              <a:latin typeface="Bebas Neue"/>
              <a:ea typeface="Bebas Neue"/>
              <a:cs typeface="Bebas Neue"/>
              <a:sym typeface="Bebas Neue"/>
            </a:endParaRPr>
          </a:p>
        </p:txBody>
      </p:sp>
      <p:pic>
        <p:nvPicPr>
          <p:cNvPr id="420" name="Google Shape;420;p40"/>
          <p:cNvPicPr preferRelativeResize="0"/>
          <p:nvPr/>
        </p:nvPicPr>
        <p:blipFill>
          <a:blip r:embed="rId3">
            <a:alphaModFix/>
          </a:blip>
          <a:stretch>
            <a:fillRect/>
          </a:stretch>
        </p:blipFill>
        <p:spPr>
          <a:xfrm>
            <a:off x="4420650" y="2651328"/>
            <a:ext cx="3350700" cy="32853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
  <a:themeElements>
    <a:clrScheme name="Custom 4">
      <a:dk1>
        <a:srgbClr val="000000"/>
      </a:dk1>
      <a:lt1>
        <a:srgbClr val="FFFFFF"/>
      </a:lt1>
      <a:dk2>
        <a:srgbClr val="3D3D3D"/>
      </a:dk2>
      <a:lt2>
        <a:srgbClr val="EBEBEB"/>
      </a:lt2>
      <a:accent1>
        <a:srgbClr val="000000"/>
      </a:accent1>
      <a:accent2>
        <a:srgbClr val="13A694"/>
      </a:accent2>
      <a:accent3>
        <a:srgbClr val="D9E5D8"/>
      </a:accent3>
      <a:accent4>
        <a:srgbClr val="A9A9A9"/>
      </a:accent4>
      <a:accent5>
        <a:srgbClr val="66B1CE"/>
      </a:accent5>
      <a:accent6>
        <a:srgbClr val="40619D"/>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